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 type="custom"/>
  <p:notesSz cx="12192000" cy="6858000"/>
  <p:embeddedFontLst>
    <p:embeddedFont>
      <p:font typeface="MiSans" charset="-122" pitchFamily="34"/>
      <p:regular r:id="rId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font" Target="fonts/font1.fntdata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826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6E675E"/>
                </a:solidFill>
                <a:latin typeface="MiSans"/>
                <a:ea typeface="MiSans"/>
              </a:rPr>
              <a:t>THE PROBLEM — BEFORE THE TWO SOLUTIONS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366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noProof="1" b="1">
                <a:solidFill>
                  <a:srgbClr val="211D19"/>
                </a:solidFill>
                <a:latin typeface="MiSans"/>
                <a:ea typeface="MiSans"/>
              </a:rPr>
              <a:t>Same business, two kinds of wrong answers</a:t>
            </a:r>
            <a:endParaRPr lang="en-US" sz="32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498600"/>
            <a:ext cx="10566400" cy="12700"/>
          </a:xfrm>
          <a:prstGeom prst="rect">
            <a:avLst/>
          </a:prstGeom>
          <a:solidFill>
            <a:srgbClr val="DDD6CC"/>
          </a:solidFill>
          <a:ln>
            <a:noFill/>
          </a:ln>
        </p:spPr>
      </p:sp>
      <p:sp>
        <p:nvSpPr>
          <p:cNvPr id="5" name="f1-label"/>
          <p:cNvSpPr txBox="1"/>
          <p:nvPr/>
        </p:nvSpPr>
        <p:spPr>
          <a:xfrm>
            <a:off x="812800" y="1778000"/>
            <a:ext cx="4876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150" kern="0">
                <a:solidFill>
                  <a:srgbClr val="2E5D46"/>
                </a:solidFill>
                <a:latin typeface="MiSans"/>
                <a:ea typeface="MiSans"/>
              </a:rPr>
              <a:t>FAILURE 1 — THE WORD MEANS DIFFERENT THINGS</a:t>
            </a:r>
            <a:endParaRPr lang="en-US" sz="1000" noProof="1"/>
          </a:p>
        </p:txBody>
      </p:sp>
      <p:sp>
        <p:nvSpPr>
          <p:cNvPr id="6" name="f1-head"/>
          <p:cNvSpPr txBox="1"/>
          <p:nvPr/>
        </p:nvSpPr>
        <p:spPr>
          <a:xfrm>
            <a:off x="812800" y="20066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50" noProof="1" b="1">
                <a:solidFill>
                  <a:srgbClr val="211D19"/>
                </a:solidFill>
                <a:latin typeface="MiSans"/>
                <a:ea typeface="MiSans"/>
              </a:rPr>
              <a:t>"Customer" across the order-to-cash stack</a:t>
            </a:r>
            <a:endParaRPr lang="en-US" sz="1450" noProof="1"/>
          </a:p>
        </p:txBody>
      </p:sp>
      <p:sp>
        <p:nvSpPr>
          <p:cNvPr id="7" name="f1-rows"/>
          <p:cNvSpPr txBox="1"/>
          <p:nvPr/>
        </p:nvSpPr>
        <p:spPr>
          <a:xfrm>
            <a:off x="812800" y="2336800"/>
            <a:ext cx="4876800" cy="142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150" noProof="1" b="1">
                <a:solidFill>
                  <a:srgbClr val="211D19"/>
                </a:solidFill>
                <a:latin typeface="MiSans"/>
                <a:ea typeface="MiSans"/>
              </a:rPr>
              <a:t>Contract &amp; order system</a:t>
            </a:r>
            <a:r>
              <a:rPr lang="en-US" sz="1150" noProof="1">
                <a:solidFill>
                  <a:srgbClr val="211D19"/>
                </a:solidFill>
                <a:latin typeface="MiSans"/>
                <a:ea typeface="MiSans"/>
              </a:rPr>
              <a:t> — the sold-to party who signed the deal</a:t>
            </a:r>
            <a:endParaRPr lang="en-US" sz="1150" noProof="1"/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211D19"/>
                </a:solidFill>
                <a:latin typeface="MiSans"/>
                <a:ea typeface="MiSans"/>
              </a:rPr>
              <a:t>Billing / AR</a:t>
            </a:r>
            <a:r>
              <a:rPr lang="en-US" sz="1150" noProof="1">
                <a:solidFill>
                  <a:srgbClr val="211D19"/>
                </a:solidFill>
                <a:latin typeface="MiSans"/>
                <a:ea typeface="MiSans"/>
              </a:rPr>
              <a:t> — the payer the invoice is sent to</a:t>
            </a:r>
            <a:endParaRPr lang="en-US" sz="1150" noProof="1"/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211D19"/>
                </a:solidFill>
                <a:latin typeface="MiSans"/>
                <a:ea typeface="MiSans"/>
              </a:rPr>
              <a:t>Terminal automation</a:t>
            </a:r>
            <a:r>
              <a:rPr lang="en-US" sz="1150" noProof="1">
                <a:solidFill>
                  <a:srgbClr val="211D19"/>
                </a:solidFill>
                <a:latin typeface="MiSans"/>
                <a:ea typeface="MiSans"/>
              </a:rPr>
              <a:t> — the consignee picking up at the rack</a:t>
            </a:r>
            <a:endParaRPr lang="en-US" sz="1150" noProof="1"/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lang="en-US" sz="1150" noProof="1" b="1">
                <a:solidFill>
                  <a:srgbClr val="211D19"/>
                </a:solidFill>
                <a:latin typeface="MiSans"/>
                <a:ea typeface="MiSans"/>
              </a:rPr>
              <a:t>CRM</a:t>
            </a:r>
            <a:r>
              <a:rPr lang="en-US" sz="1150" noProof="1">
                <a:solidFill>
                  <a:srgbClr val="211D19"/>
                </a:solidFill>
                <a:latin typeface="MiSans"/>
                <a:ea typeface="MiSans"/>
              </a:rPr>
              <a:t> — the account the sales team manages</a:t>
            </a:r>
            <a:endParaRPr lang="en-US" sz="1150" noProof="1"/>
          </a:p>
        </p:txBody>
      </p:sp>
      <p:sp>
        <p:nvSpPr>
          <p:cNvPr id="8" name="f1-note"/>
          <p:cNvSpPr txBox="1"/>
          <p:nvPr/>
        </p:nvSpPr>
        <p:spPr>
          <a:xfrm>
            <a:off x="812800" y="3911600"/>
            <a:ext cx="4876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050" noProof="1" i="1">
                <a:solidFill>
                  <a:srgbClr val="6E675E"/>
                </a:solidFill>
                <a:latin typeface="MiSans"/>
                <a:ea typeface="MiSans"/>
              </a:rPr>
              <a:t>Same company, four systems, four lists — ask for "unbilled by customer" and each system answers about a different "customer."</a:t>
            </a:r>
            <a:endParaRPr lang="en-US" sz="1050" noProof="1"/>
          </a:p>
        </p:txBody>
      </p:sp>
      <p:sp>
        <p:nvSpPr>
          <p:cNvPr id="9" name="f1-verdict"/>
          <p:cNvSpPr txBox="1"/>
          <p:nvPr/>
        </p:nvSpPr>
        <p:spPr>
          <a:xfrm>
            <a:off x="812800" y="4648200"/>
            <a:ext cx="4876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50" noProof="1">
                <a:solidFill>
                  <a:srgbClr val="211D19"/>
                </a:solidFill>
                <a:latin typeface="MiSans"/>
                <a:ea typeface="MiSans"/>
              </a:rPr>
              <a:t>Root cause: </a:t>
            </a:r>
            <a:r>
              <a:rPr lang="en-US" sz="1150" noProof="1" b="1">
                <a:solidFill>
                  <a:srgbClr val="2E5D46"/>
                </a:solidFill>
                <a:latin typeface="MiSans"/>
                <a:ea typeface="MiSans"/>
              </a:rPr>
              <a:t>meaning</a:t>
            </a:r>
            <a:r>
              <a:rPr lang="en-US" sz="1150" noProof="1">
                <a:solidFill>
                  <a:srgbClr val="211D19"/>
                </a:solidFill>
                <a:latin typeface="MiSans"/>
                <a:ea typeface="MiSans"/>
              </a:rPr>
              <a:t> — what a word refers to</a:t>
            </a:r>
            <a:endParaRPr lang="en-US" sz="1150" noProof="1"/>
          </a:p>
        </p:txBody>
      </p:sp>
      <p:sp>
        <p:nvSpPr>
          <p:cNvPr id="10" name="divider"/>
          <p:cNvSpPr/>
          <p:nvPr/>
        </p:nvSpPr>
        <p:spPr>
          <a:xfrm>
            <a:off x="6096000" y="1778000"/>
            <a:ext cx="12700" cy="3225800"/>
          </a:xfrm>
          <a:prstGeom prst="rect">
            <a:avLst/>
          </a:prstGeom>
          <a:solidFill>
            <a:srgbClr val="DDD6CC"/>
          </a:solidFill>
          <a:ln>
            <a:noFill/>
          </a:ln>
        </p:spPr>
      </p:sp>
      <p:sp>
        <p:nvSpPr>
          <p:cNvPr id="11" name="f2-label"/>
          <p:cNvSpPr txBox="1"/>
          <p:nvPr/>
        </p:nvSpPr>
        <p:spPr>
          <a:xfrm>
            <a:off x="6502400" y="1778000"/>
            <a:ext cx="48768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150" kern="0">
                <a:solidFill>
                  <a:srgbClr val="B3501E"/>
                </a:solidFill>
                <a:latin typeface="MiSans"/>
                <a:ea typeface="MiSans"/>
              </a:rPr>
              <a:t>FAILURE 2 — THE MATH IS DIFFERENT EVERYWHERE</a:t>
            </a:r>
            <a:endParaRPr lang="en-US" sz="1000" noProof="1"/>
          </a:p>
        </p:txBody>
      </p:sp>
      <p:sp>
        <p:nvSpPr>
          <p:cNvPr id="12" name="f2-head"/>
          <p:cNvSpPr txBox="1"/>
          <p:nvPr/>
        </p:nvSpPr>
        <p:spPr>
          <a:xfrm>
            <a:off x="6502400" y="2006600"/>
            <a:ext cx="48768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450" noProof="1" b="1">
                <a:solidFill>
                  <a:srgbClr val="211D19"/>
                </a:solidFill>
                <a:latin typeface="MiSans"/>
                <a:ea typeface="MiSans"/>
              </a:rPr>
              <a:t>"Unbilled USD" across three reports</a:t>
            </a:r>
            <a:endParaRPr lang="en-US" sz="1450" noProof="1"/>
          </a:p>
        </p:txBody>
      </p:sp>
      <p:sp>
        <p:nvSpPr>
          <p:cNvPr id="13" name="f2-row1-label"/>
          <p:cNvSpPr txBox="1"/>
          <p:nvPr/>
        </p:nvSpPr>
        <p:spPr>
          <a:xfrm>
            <a:off x="6502400" y="23622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50" noProof="1">
                <a:solidFill>
                  <a:srgbClr val="211D19"/>
                </a:solidFill>
                <a:latin typeface="MiSans"/>
                <a:ea typeface="MiSans"/>
              </a:rPr>
              <a:t>Reports A &amp; B — certified metric</a:t>
            </a:r>
            <a:endParaRPr lang="en-US" sz="1150" noProof="1"/>
          </a:p>
        </p:txBody>
      </p:sp>
      <p:sp>
        <p:nvSpPr>
          <p:cNvPr id="14" name="f2-row1-value"/>
          <p:cNvSpPr txBox="1"/>
          <p:nvPr/>
        </p:nvSpPr>
        <p:spPr>
          <a:xfrm>
            <a:off x="9677400" y="2362200"/>
            <a:ext cx="1701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50" noProof="1" b="1">
                <a:solidFill>
                  <a:srgbClr val="211D19"/>
                </a:solidFill>
                <a:latin typeface="MiSans"/>
                <a:ea typeface="MiSans"/>
              </a:rPr>
              <a:t>$6,049,649.77</a:t>
            </a:r>
            <a:endParaRPr lang="en-US" sz="1150" noProof="1"/>
          </a:p>
        </p:txBody>
      </p:sp>
      <p:sp>
        <p:nvSpPr>
          <p:cNvPr id="15" name="f2-rule1"/>
          <p:cNvSpPr/>
          <p:nvPr/>
        </p:nvSpPr>
        <p:spPr>
          <a:xfrm>
            <a:off x="6502400" y="2641600"/>
            <a:ext cx="4876800" cy="12700"/>
          </a:xfrm>
          <a:prstGeom prst="rect">
            <a:avLst/>
          </a:prstGeom>
          <a:solidFill>
            <a:srgbClr val="DDD6CC"/>
          </a:solidFill>
          <a:ln>
            <a:noFill/>
          </a:ln>
        </p:spPr>
      </p:sp>
      <p:sp>
        <p:nvSpPr>
          <p:cNvPr id="16" name="f2-row2-label"/>
          <p:cNvSpPr txBox="1"/>
          <p:nvPr/>
        </p:nvSpPr>
        <p:spPr>
          <a:xfrm>
            <a:off x="6502400" y="27178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50" noProof="1">
                <a:solidFill>
                  <a:srgbClr val="211D19"/>
                </a:solidFill>
                <a:latin typeface="MiSans"/>
                <a:ea typeface="MiSans"/>
              </a:rPr>
              <a:t>Report C — hand-written SQL</a:t>
            </a:r>
            <a:endParaRPr lang="en-US" sz="1150" noProof="1"/>
          </a:p>
        </p:txBody>
      </p:sp>
      <p:sp>
        <p:nvSpPr>
          <p:cNvPr id="17" name="f2-row2-value"/>
          <p:cNvSpPr txBox="1"/>
          <p:nvPr/>
        </p:nvSpPr>
        <p:spPr>
          <a:xfrm>
            <a:off x="9677400" y="2717800"/>
            <a:ext cx="1701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150" noProof="1" b="1">
                <a:solidFill>
                  <a:srgbClr val="B3501E"/>
                </a:solidFill>
                <a:latin typeface="MiSans"/>
                <a:ea typeface="MiSans"/>
              </a:rPr>
              <a:t>$7,393,499.19</a:t>
            </a:r>
            <a:endParaRPr lang="en-US" sz="1150" noProof="1"/>
          </a:p>
        </p:txBody>
      </p:sp>
      <p:sp>
        <p:nvSpPr>
          <p:cNvPr id="18" name="f2-rule2"/>
          <p:cNvSpPr/>
          <p:nvPr/>
        </p:nvSpPr>
        <p:spPr>
          <a:xfrm>
            <a:off x="6502400" y="2997200"/>
            <a:ext cx="4876800" cy="12700"/>
          </a:xfrm>
          <a:prstGeom prst="rect">
            <a:avLst/>
          </a:prstGeom>
          <a:solidFill>
            <a:srgbClr val="DDD6CC"/>
          </a:solidFill>
          <a:ln>
            <a:noFill/>
          </a:ln>
        </p:spPr>
      </p:sp>
      <p:sp>
        <p:nvSpPr>
          <p:cNvPr id="19" name="f2-gap"/>
          <p:cNvSpPr txBox="1"/>
          <p:nvPr/>
        </p:nvSpPr>
        <p:spPr>
          <a:xfrm>
            <a:off x="6502400" y="3098800"/>
            <a:ext cx="4876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50" noProof="1">
                <a:solidFill>
                  <a:srgbClr val="211D19"/>
                </a:solidFill>
                <a:latin typeface="MiSans"/>
                <a:ea typeface="MiSans"/>
              </a:rPr>
              <a:t>The gap: </a:t>
            </a:r>
            <a:r>
              <a:rPr lang="en-US" sz="1150" noProof="1" b="1">
                <a:solidFill>
                  <a:srgbClr val="B3501E"/>
                </a:solidFill>
                <a:latin typeface="MiSans"/>
                <a:ea typeface="MiSans"/>
              </a:rPr>
              <a:t>$1,343,849.42 — a 22% larger number</a:t>
            </a:r>
            <a:endParaRPr lang="en-US" sz="1150" noProof="1"/>
          </a:p>
        </p:txBody>
      </p:sp>
      <p:sp>
        <p:nvSpPr>
          <p:cNvPr id="20" name="f2-note"/>
          <p:cNvSpPr txBox="1"/>
          <p:nvPr/>
        </p:nvSpPr>
        <p:spPr>
          <a:xfrm>
            <a:off x="6502400" y="3454400"/>
            <a:ext cx="48768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050" noProof="1" i="1">
                <a:solidFill>
                  <a:srgbClr val="6E675E"/>
                </a:solidFill>
                <a:latin typeface="MiSans"/>
                <a:ea typeface="MiSans"/>
              </a:rPr>
              <a:t>All three reports read the same tables. Report C re-wrote the formula by hand and counted a different set of delivered-but-uninvoiced tickets.</a:t>
            </a:r>
            <a:endParaRPr lang="en-US" sz="1050" noProof="1"/>
          </a:p>
        </p:txBody>
      </p:sp>
      <p:sp>
        <p:nvSpPr>
          <p:cNvPr id="21" name="f2-verdict"/>
          <p:cNvSpPr txBox="1"/>
          <p:nvPr/>
        </p:nvSpPr>
        <p:spPr>
          <a:xfrm>
            <a:off x="6502400" y="4648200"/>
            <a:ext cx="4876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50" noProof="1">
                <a:solidFill>
                  <a:srgbClr val="211D19"/>
                </a:solidFill>
                <a:latin typeface="MiSans"/>
                <a:ea typeface="MiSans"/>
              </a:rPr>
              <a:t>Root cause: </a:t>
            </a:r>
            <a:r>
              <a:rPr lang="en-US" sz="1150" noProof="1" b="1">
                <a:solidFill>
                  <a:srgbClr val="B3501E"/>
                </a:solidFill>
                <a:latin typeface="MiSans"/>
                <a:ea typeface="MiSans"/>
              </a:rPr>
              <a:t>logic</a:t>
            </a:r>
            <a:r>
              <a:rPr lang="en-US" sz="1150" noProof="1">
                <a:solidFill>
                  <a:srgbClr val="211D19"/>
                </a:solidFill>
                <a:latin typeface="MiSans"/>
                <a:ea typeface="MiSans"/>
              </a:rPr>
              <a:t> — the formula lives in many places</a:t>
            </a:r>
            <a:endParaRPr lang="en-US" sz="1150" noProof="1"/>
          </a:p>
        </p:txBody>
      </p:sp>
      <p:sp>
        <p:nvSpPr>
          <p:cNvPr id="22" name="takeaway-rule"/>
          <p:cNvSpPr/>
          <p:nvPr/>
        </p:nvSpPr>
        <p:spPr>
          <a:xfrm>
            <a:off x="812800" y="5384800"/>
            <a:ext cx="10566400" cy="12700"/>
          </a:xfrm>
          <a:prstGeom prst="rect">
            <a:avLst/>
          </a:prstGeom>
          <a:solidFill>
            <a:srgbClr val="DDD6CC"/>
          </a:solidFill>
          <a:ln>
            <a:noFill/>
          </a:ln>
        </p:spPr>
      </p:sp>
      <p:sp>
        <p:nvSpPr>
          <p:cNvPr id="23" name="takeaway"/>
          <p:cNvSpPr txBox="1"/>
          <p:nvPr/>
        </p:nvSpPr>
        <p:spPr>
          <a:xfrm>
            <a:off x="812800" y="56134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350" noProof="1">
                <a:solidFill>
                  <a:srgbClr val="211D19"/>
                </a:solidFill>
                <a:latin typeface="MiSans"/>
                <a:ea typeface="MiSans"/>
              </a:rPr>
              <a:t>Two different root causes need two different tools: an </a:t>
            </a:r>
            <a:r>
              <a:rPr lang="en-US" sz="1350" noProof="1" b="1">
                <a:solidFill>
                  <a:srgbClr val="2E5D46"/>
                </a:solidFill>
                <a:latin typeface="MiSans"/>
                <a:ea typeface="MiSans"/>
              </a:rPr>
              <a:t>ontology</a:t>
            </a:r>
            <a:r>
              <a:rPr lang="en-US" sz="1350" noProof="1">
                <a:solidFill>
                  <a:srgbClr val="211D19"/>
                </a:solidFill>
                <a:latin typeface="MiSans"/>
                <a:ea typeface="MiSans"/>
              </a:rPr>
              <a:t> governs </a:t>
            </a:r>
            <a:r>
              <a:rPr lang="en-US" sz="1350" noProof="1" b="1">
                <a:solidFill>
                  <a:srgbClr val="211D19"/>
                </a:solidFill>
                <a:latin typeface="MiSans"/>
                <a:ea typeface="MiSans"/>
              </a:rPr>
              <a:t>meaning</a:t>
            </a:r>
            <a:r>
              <a:rPr lang="en-US" sz="1350" noProof="1">
                <a:solidFill>
                  <a:srgbClr val="211D19"/>
                </a:solidFill>
                <a:latin typeface="MiSans"/>
                <a:ea typeface="MiSans"/>
              </a:rPr>
              <a:t>, a </a:t>
            </a:r>
            <a:r>
              <a:rPr lang="en-US" sz="1350" noProof="1" b="1">
                <a:solidFill>
                  <a:srgbClr val="B3501E"/>
                </a:solidFill>
                <a:latin typeface="MiSans"/>
                <a:ea typeface="MiSans"/>
              </a:rPr>
              <a:t>semantic layer</a:t>
            </a:r>
            <a:r>
              <a:rPr lang="en-US" sz="1350" noProof="1">
                <a:solidFill>
                  <a:srgbClr val="211D19"/>
                </a:solidFill>
                <a:latin typeface="MiSans"/>
                <a:ea typeface="MiSans"/>
              </a:rPr>
              <a:t> governs </a:t>
            </a:r>
            <a:r>
              <a:rPr lang="en-US" sz="1350" noProof="1" b="1">
                <a:solidFill>
                  <a:srgbClr val="211D19"/>
                </a:solidFill>
                <a:latin typeface="MiSans"/>
                <a:ea typeface="MiSans"/>
              </a:rPr>
              <a:t>logic</a:t>
            </a:r>
            <a:r>
              <a:rPr lang="en-US" sz="1350" noProof="1">
                <a:solidFill>
                  <a:srgbClr val="211D19"/>
                </a:solidFill>
                <a:latin typeface="MiSans"/>
                <a:ea typeface="MiSans"/>
              </a:rPr>
              <a:t>. The next two slides take them one at a time.</a:t>
            </a:r>
            <a:endParaRPr lang="en-US" sz="1350" noProof="1"/>
          </a:p>
        </p:txBody>
      </p:sp>
      <p:sp>
        <p:nvSpPr>
          <p:cNvPr id="24" name="footer-left"/>
          <p:cNvSpPr txBox="1"/>
          <p:nvPr/>
        </p:nvSpPr>
        <p:spPr>
          <a:xfrm>
            <a:off x="812800" y="6527800"/>
            <a:ext cx="711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9A938A"/>
                </a:solidFill>
                <a:latin typeface="MiSans"/>
                <a:ea typeface="MiSans"/>
              </a:rPr>
              <a:t>Both failure modes documented in the EPM demo — party roles (o2c-meaning.ttl) and the Report A/B/C comparison</a:t>
            </a:r>
            <a:endParaRPr lang="en-US" sz="1000" noProof="1"/>
          </a:p>
        </p:txBody>
      </p:sp>
      <p:sp>
        <p:nvSpPr>
          <p:cNvPr id="25" name="footer-right"/>
          <p:cNvSpPr txBox="1"/>
          <p:nvPr/>
        </p:nvSpPr>
        <p:spPr>
          <a:xfrm>
            <a:off x="10541000" y="6527800"/>
            <a:ext cx="838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A938A"/>
                </a:solidFill>
                <a:latin typeface="MiSans"/>
                <a:ea typeface="MiSans"/>
              </a:rPr>
              <a:t>01 / 04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826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6E675E"/>
                </a:solidFill>
                <a:latin typeface="MiSans"/>
                <a:ea typeface="MiSans"/>
              </a:rPr>
              <a:t>SOLUTION 1 OF 2 — SEMANTIC LAYER · FIXES THE LOGIC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36600"/>
            <a:ext cx="914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noProof="1" b="1">
                <a:solidFill>
                  <a:srgbClr val="211D19"/>
                </a:solidFill>
                <a:latin typeface="MiSans"/>
                <a:ea typeface="MiSans"/>
              </a:rPr>
              <a:t>What is a semantic layer?</a:t>
            </a:r>
            <a:endParaRPr lang="en-US" sz="32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498600"/>
            <a:ext cx="10566400" cy="12700"/>
          </a:xfrm>
          <a:prstGeom prst="rect">
            <a:avLst/>
          </a:prstGeom>
          <a:solidFill>
            <a:srgbClr val="DDD6CC"/>
          </a:solidFill>
          <a:ln>
            <a:noFill/>
          </a:ln>
        </p:spPr>
      </p:sp>
      <p:sp>
        <p:nvSpPr>
          <p:cNvPr id="5" name="definition"/>
          <p:cNvSpPr txBox="1"/>
          <p:nvPr/>
        </p:nvSpPr>
        <p:spPr>
          <a:xfrm>
            <a:off x="812800" y="1778000"/>
            <a:ext cx="59690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750" noProof="1">
                <a:solidFill>
                  <a:srgbClr val="211D19"/>
                </a:solidFill>
                <a:latin typeface="MiSans"/>
                <a:ea typeface="MiSans"/>
              </a:rPr>
              <a:t>A </a:t>
            </a:r>
            <a:r>
              <a:rPr lang="en-US" sz="1750" noProof="1" b="1">
                <a:solidFill>
                  <a:srgbClr val="211D19"/>
                </a:solidFill>
                <a:latin typeface="MiSans"/>
                <a:ea typeface="MiSans"/>
              </a:rPr>
              <a:t>governed layer of metric definitions</a:t>
            </a:r>
            <a:r>
              <a:rPr lang="en-US" sz="1750" noProof="1">
                <a:solidFill>
                  <a:srgbClr val="211D19"/>
                </a:solidFill>
                <a:latin typeface="MiSans"/>
                <a:ea typeface="MiSans"/>
              </a:rPr>
              <a:t> between your data and everyone who consumes it — </a:t>
            </a:r>
            <a:r>
              <a:rPr lang="en-US" sz="1750" noProof="1" b="1">
                <a:solidFill>
                  <a:srgbClr val="211D19"/>
                </a:solidFill>
                <a:latin typeface="MiSans"/>
                <a:ea typeface="MiSans"/>
              </a:rPr>
              <a:t>define each metric once</a:t>
            </a:r>
            <a:r>
              <a:rPr lang="en-US" sz="1750" noProof="1">
                <a:solidFill>
                  <a:srgbClr val="211D19"/>
                </a:solidFill>
                <a:latin typeface="MiSans"/>
                <a:ea typeface="MiSans"/>
              </a:rPr>
              <a:t>, and every dashboard, spreadsheet, and AI agent works from the same number.</a:t>
            </a:r>
            <a:endParaRPr lang="en-US" sz="1750" noProof="1"/>
          </a:p>
        </p:txBody>
      </p:sp>
      <p:sp>
        <p:nvSpPr>
          <p:cNvPr id="6" name="bullets"/>
          <p:cNvSpPr txBox="1"/>
          <p:nvPr/>
        </p:nvSpPr>
        <p:spPr>
          <a:xfrm>
            <a:off x="812800" y="3327400"/>
            <a:ext cx="5969000" cy="2616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250" noProof="1">
                <a:solidFill>
                  <a:srgbClr val="B3501E"/>
                </a:solidFill>
                <a:latin typeface="MiSans"/>
                <a:ea typeface="MiSans"/>
              </a:rPr>
              <a:t>■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 </a:t>
            </a:r>
            <a:r>
              <a:rPr lang="en-US" sz="1250" noProof="1" b="1">
                <a:solidFill>
                  <a:srgbClr val="211D19"/>
                </a:solidFill>
                <a:latin typeface="MiSans"/>
                <a:ea typeface="MiSans"/>
              </a:rPr>
              <a:t>Define once, use everywhere.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 One certified definition of a metric like Unbilled USD — not a slightly different formula in every report.</a:t>
            </a:r>
            <a:endParaRPr lang="en-US" sz="1250" noProof="1"/>
          </a:p>
          <a:p>
            <a:pPr algn="l">
              <a:lnSpc>
                <a:spcPct val="150000"/>
              </a:lnSpc>
              <a:spcBef>
                <a:spcPts val="1100"/>
              </a:spcBef>
            </a:pPr>
            <a:r>
              <a:rPr lang="en-US" sz="1250" noProof="1">
                <a:solidFill>
                  <a:srgbClr val="B3501E"/>
                </a:solidFill>
                <a:latin typeface="MiSans"/>
                <a:ea typeface="MiSans"/>
              </a:rPr>
              <a:t>■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 </a:t>
            </a:r>
            <a:r>
              <a:rPr lang="en-US" sz="1250" noProof="1" b="1">
                <a:solidFill>
                  <a:srgbClr val="211D19"/>
                </a:solidFill>
                <a:latin typeface="MiSans"/>
                <a:ea typeface="MiSans"/>
              </a:rPr>
              <a:t>It translates; it doesn't copy.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 Definitions point at the data where it lives — nothing is moved or duplicated.</a:t>
            </a:r>
            <a:endParaRPr lang="en-US" sz="1250" noProof="1"/>
          </a:p>
          <a:p>
            <a:pPr algn="l">
              <a:lnSpc>
                <a:spcPct val="150000"/>
              </a:lnSpc>
              <a:spcBef>
                <a:spcPts val="1100"/>
              </a:spcBef>
            </a:pPr>
            <a:r>
              <a:rPr lang="en-US" sz="1250" noProof="1">
                <a:solidFill>
                  <a:srgbClr val="B3501E"/>
                </a:solidFill>
                <a:latin typeface="MiSans"/>
                <a:ea typeface="MiSans"/>
              </a:rPr>
              <a:t>■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 </a:t>
            </a:r>
            <a:r>
              <a:rPr lang="en-US" sz="1250" noProof="1" b="1">
                <a:solidFill>
                  <a:srgbClr val="211D19"/>
                </a:solidFill>
                <a:latin typeface="MiSans"/>
                <a:ea typeface="MiSans"/>
              </a:rPr>
              <a:t>Versioned and reviewed like code.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 When a definition changes, every consumer changes with it.</a:t>
            </a:r>
            <a:endParaRPr lang="en-US" sz="1250" noProof="1"/>
          </a:p>
          <a:p>
            <a:pPr algn="l">
              <a:lnSpc>
                <a:spcPct val="150000"/>
              </a:lnSpc>
              <a:spcBef>
                <a:spcPts val="1100"/>
              </a:spcBef>
            </a:pPr>
            <a:r>
              <a:rPr lang="en-US" sz="1250" noProof="1">
                <a:solidFill>
                  <a:srgbClr val="B3501E"/>
                </a:solidFill>
                <a:latin typeface="MiSans"/>
                <a:ea typeface="MiSans"/>
              </a:rPr>
              <a:t>■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 </a:t>
            </a:r>
            <a:r>
              <a:rPr lang="en-US" sz="1250" noProof="1" b="1">
                <a:solidFill>
                  <a:srgbClr val="211D19"/>
                </a:solidFill>
                <a:latin typeface="MiSans"/>
                <a:ea typeface="MiSans"/>
              </a:rPr>
              <a:t>Humans and AI agents get the same answer.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 An agent reads the approved metric instead of inventing its own SQL.</a:t>
            </a:r>
            <a:endParaRPr lang="en-US" sz="1250" noProof="1"/>
          </a:p>
        </p:txBody>
      </p:sp>
      <p:sp>
        <p:nvSpPr>
          <p:cNvPr id="7" name="bridge"/>
          <p:cNvSpPr txBox="1"/>
          <p:nvPr/>
        </p:nvSpPr>
        <p:spPr>
          <a:xfrm>
            <a:off x="812800" y="6146800"/>
            <a:ext cx="5969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50" noProof="1">
                <a:solidFill>
                  <a:srgbClr val="2E5D46"/>
                </a:solidFill>
                <a:latin typeface="MiSans"/>
                <a:ea typeface="MiSans"/>
              </a:rPr>
              <a:t>→</a:t>
            </a:r>
            <a:r>
              <a:rPr lang="en-US" sz="1150" noProof="1">
                <a:solidFill>
                  <a:srgbClr val="211D19"/>
                </a:solidFill>
                <a:latin typeface="MiSans"/>
                <a:ea typeface="MiSans"/>
              </a:rPr>
              <a:t> That fixes the logic — </a:t>
            </a:r>
            <a:r>
              <a:rPr lang="en-US" sz="1150" noProof="1" b="1">
                <a:solidFill>
                  <a:srgbClr val="2E5D46"/>
                </a:solidFill>
                <a:latin typeface="MiSans"/>
                <a:ea typeface="MiSans"/>
              </a:rPr>
              <a:t>not the meaning</a:t>
            </a:r>
            <a:r>
              <a:rPr lang="en-US" sz="1150" noProof="1">
                <a:solidFill>
                  <a:srgbClr val="211D19"/>
                </a:solidFill>
                <a:latin typeface="MiSans"/>
                <a:ea typeface="MiSans"/>
              </a:rPr>
              <a:t>. Meaning is the ontology's job, next.</a:t>
            </a:r>
            <a:endParaRPr lang="en-US" sz="1150" noProof="1"/>
          </a:p>
        </p:txBody>
      </p:sp>
      <p:sp>
        <p:nvSpPr>
          <p:cNvPr id="8" name="stack-label"/>
          <p:cNvSpPr txBox="1"/>
          <p:nvPr/>
        </p:nvSpPr>
        <p:spPr>
          <a:xfrm>
            <a:off x="7366000" y="1727200"/>
            <a:ext cx="4013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spc="150" kern="0">
                <a:solidFill>
                  <a:srgbClr val="6E675E"/>
                </a:solidFill>
                <a:latin typeface="MiSans"/>
                <a:ea typeface="MiSans"/>
              </a:rPr>
              <a:t>WHO ASKS</a:t>
            </a:r>
            <a:endParaRPr lang="en-US" sz="1000" noProof="1"/>
          </a:p>
        </p:txBody>
      </p:sp>
      <p:sp>
        <p:nvSpPr>
          <p:cNvPr id="9" name="chip-1"/>
          <p:cNvSpPr/>
          <p:nvPr/>
        </p:nvSpPr>
        <p:spPr>
          <a:xfrm>
            <a:off x="7366000" y="1955800"/>
            <a:ext cx="1270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</p:spPr>
      </p:sp>
      <p:sp>
        <p:nvSpPr>
          <p:cNvPr id="10" name="chip-1-text"/>
          <p:cNvSpPr txBox="1"/>
          <p:nvPr/>
        </p:nvSpPr>
        <p:spPr>
          <a:xfrm>
            <a:off x="7366000" y="1955800"/>
            <a:ext cx="127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5000"/>
              </a:lnSpc>
            </a:pPr>
            <a:r>
              <a:rPr lang="en-US" sz="1100" noProof="1">
                <a:solidFill>
                  <a:srgbClr val="211D19"/>
                </a:solidFill>
                <a:latin typeface="MiSans"/>
                <a:ea typeface="MiSans"/>
              </a:rPr>
              <a:t>Dashboards &amp; BI</a:t>
            </a:r>
            <a:endParaRPr lang="en-US" sz="1100" noProof="1"/>
          </a:p>
        </p:txBody>
      </p:sp>
      <p:sp>
        <p:nvSpPr>
          <p:cNvPr id="11" name="chip-2"/>
          <p:cNvSpPr/>
          <p:nvPr/>
        </p:nvSpPr>
        <p:spPr>
          <a:xfrm>
            <a:off x="8737600" y="1955800"/>
            <a:ext cx="1270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</p:spPr>
      </p:sp>
      <p:sp>
        <p:nvSpPr>
          <p:cNvPr id="12" name="chip-2-text"/>
          <p:cNvSpPr txBox="1"/>
          <p:nvPr/>
        </p:nvSpPr>
        <p:spPr>
          <a:xfrm>
            <a:off x="8737600" y="1955800"/>
            <a:ext cx="127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5000"/>
              </a:lnSpc>
            </a:pPr>
            <a:r>
              <a:rPr lang="en-US" sz="1100" noProof="1">
                <a:solidFill>
                  <a:srgbClr val="211D19"/>
                </a:solidFill>
                <a:latin typeface="MiSans"/>
                <a:ea typeface="MiSans"/>
              </a:rPr>
              <a:t>Spreadsheets</a:t>
            </a:r>
            <a:endParaRPr lang="en-US" sz="1100" noProof="1"/>
          </a:p>
        </p:txBody>
      </p:sp>
      <p:sp>
        <p:nvSpPr>
          <p:cNvPr id="13" name="chip-3"/>
          <p:cNvSpPr/>
          <p:nvPr/>
        </p:nvSpPr>
        <p:spPr>
          <a:xfrm>
            <a:off x="10109200" y="1955800"/>
            <a:ext cx="12700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</p:spPr>
      </p:sp>
      <p:sp>
        <p:nvSpPr>
          <p:cNvPr id="14" name="chip-3-text"/>
          <p:cNvSpPr txBox="1"/>
          <p:nvPr/>
        </p:nvSpPr>
        <p:spPr>
          <a:xfrm>
            <a:off x="10109200" y="1955800"/>
            <a:ext cx="1270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5000"/>
              </a:lnSpc>
            </a:pPr>
            <a:r>
              <a:rPr lang="en-US" sz="1100" noProof="1">
                <a:solidFill>
                  <a:srgbClr val="211D19"/>
                </a:solidFill>
                <a:latin typeface="MiSans"/>
                <a:ea typeface="MiSans"/>
              </a:rPr>
              <a:t>AI agents</a:t>
            </a:r>
            <a:endParaRPr lang="en-US" sz="1100" noProof="1"/>
          </a:p>
        </p:txBody>
      </p:sp>
      <p:sp>
        <p:nvSpPr>
          <p:cNvPr id="15" name="arr-1"/>
          <p:cNvSpPr/>
          <p:nvPr>
            <p:extLst>
              <p:ext uri="{F5677B7D-0D2A-4D9B-9A5C-6D8D7D0E5A5D}">
                <pptd:line encoding="base64url">eyJ2aWV3Qm94IjpbMiwyOF0sInBvaW50cyI6IjEsMCAxLDI4IiwiY3VydmUiOiJzaGFycCJ9</pptd:line>
              </p:ext>
            </p:extLst>
          </p:nvPr>
        </p:nvSpPr>
        <p:spPr>
          <a:xfrm>
            <a:off x="7988300" y="2489200"/>
            <a:ext cx="25400" cy="355600"/>
          </a:xfrm>
          <a:custGeom>
            <a:avLst/>
            <a:gdLst/>
            <a:ahLst/>
            <a:cxnLst/>
            <a:rect l="l" t="t" r="r" b="b"/>
            <a:pathLst>
              <a:path w="2" h="28">
                <a:moveTo>
                  <a:pt x="1" y="0"/>
                </a:moveTo>
                <a:lnTo>
                  <a:pt x="1" y="28"/>
                </a:lnTo>
              </a:path>
            </a:pathLst>
          </a:custGeom>
          <a:noFill/>
          <a:ln w="15240">
            <a:solidFill>
              <a:srgbClr val="9A938A"/>
            </a:solidFill>
            <a:headEnd type="arrow"/>
            <a:tailEnd type="arrow"/>
          </a:ln>
        </p:spPr>
      </p:sp>
      <p:sp>
        <p:nvSpPr>
          <p:cNvPr id="16" name="arr-2"/>
          <p:cNvSpPr/>
          <p:nvPr>
            <p:extLst>
              <p:ext uri="{F5677B7D-0D2A-4D9B-9A5C-6D8D7D0E5A5D}">
                <pptd:line encoding="base64url">eyJ2aWV3Qm94IjpbMiwyOF0sInBvaW50cyI6IjEsMCAxLDI4IiwiY3VydmUiOiJzaGFycCJ9</pptd:line>
              </p:ext>
            </p:extLst>
          </p:nvPr>
        </p:nvSpPr>
        <p:spPr>
          <a:xfrm>
            <a:off x="9359900" y="2489200"/>
            <a:ext cx="25400" cy="355600"/>
          </a:xfrm>
          <a:custGeom>
            <a:avLst/>
            <a:gdLst/>
            <a:ahLst/>
            <a:cxnLst/>
            <a:rect l="l" t="t" r="r" b="b"/>
            <a:pathLst>
              <a:path w="2" h="28">
                <a:moveTo>
                  <a:pt x="1" y="0"/>
                </a:moveTo>
                <a:lnTo>
                  <a:pt x="1" y="28"/>
                </a:lnTo>
              </a:path>
            </a:pathLst>
          </a:custGeom>
          <a:noFill/>
          <a:ln w="15240">
            <a:solidFill>
              <a:srgbClr val="9A938A"/>
            </a:solidFill>
            <a:headEnd type="arrow"/>
            <a:tailEnd type="arrow"/>
          </a:ln>
        </p:spPr>
      </p:sp>
      <p:sp>
        <p:nvSpPr>
          <p:cNvPr id="17" name="arr-3"/>
          <p:cNvSpPr/>
          <p:nvPr>
            <p:extLst>
              <p:ext uri="{F5677B7D-0D2A-4D9B-9A5C-6D8D7D0E5A5D}">
                <pptd:line encoding="base64url">eyJ2aWV3Qm94IjpbMiwyOF0sInBvaW50cyI6IjEsMCAxLDI4IiwiY3VydmUiOiJzaGFycCJ9</pptd:line>
              </p:ext>
            </p:extLst>
          </p:nvPr>
        </p:nvSpPr>
        <p:spPr>
          <a:xfrm>
            <a:off x="10731500" y="2489200"/>
            <a:ext cx="25400" cy="355600"/>
          </a:xfrm>
          <a:custGeom>
            <a:avLst/>
            <a:gdLst/>
            <a:ahLst/>
            <a:cxnLst/>
            <a:rect l="l" t="t" r="r" b="b"/>
            <a:pathLst>
              <a:path w="2" h="28">
                <a:moveTo>
                  <a:pt x="1" y="0"/>
                </a:moveTo>
                <a:lnTo>
                  <a:pt x="1" y="28"/>
                </a:lnTo>
              </a:path>
            </a:pathLst>
          </a:custGeom>
          <a:noFill/>
          <a:ln w="15240">
            <a:solidFill>
              <a:srgbClr val="9A938A"/>
            </a:solidFill>
            <a:headEnd type="arrow"/>
            <a:tailEnd type="arrow"/>
          </a:ln>
        </p:spPr>
      </p:sp>
      <p:sp>
        <p:nvSpPr>
          <p:cNvPr id="18" name="sl-band"/>
          <p:cNvSpPr/>
          <p:nvPr/>
        </p:nvSpPr>
        <p:spPr>
          <a:xfrm>
            <a:off x="7366000" y="2870200"/>
            <a:ext cx="4013200" cy="1422400"/>
          </a:xfrm>
          <a:prstGeom prst="rect">
            <a:avLst/>
          </a:prstGeom>
          <a:solidFill>
            <a:srgbClr val="B3501E">
              <a:alpha val="7059"/>
            </a:srgbClr>
          </a:solidFill>
          <a:ln w="19050">
            <a:solidFill>
              <a:srgbClr val="B3501E"/>
            </a:solidFill>
          </a:ln>
        </p:spPr>
      </p:sp>
      <p:sp>
        <p:nvSpPr>
          <p:cNvPr id="19" name="sl-band-title"/>
          <p:cNvSpPr txBox="1"/>
          <p:nvPr/>
        </p:nvSpPr>
        <p:spPr>
          <a:xfrm>
            <a:off x="7569200" y="2997200"/>
            <a:ext cx="3606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 spc="150" kern="0">
                <a:solidFill>
                  <a:srgbClr val="B3501E"/>
                </a:solidFill>
                <a:latin typeface="MiSans"/>
                <a:ea typeface="MiSans"/>
              </a:rPr>
              <a:t>SEMANTIC LAYER</a:t>
            </a:r>
            <a:endParaRPr lang="en-US" sz="1100" noProof="1"/>
          </a:p>
        </p:txBody>
      </p:sp>
      <p:sp>
        <p:nvSpPr>
          <p:cNvPr id="20" name="sl-band-sub"/>
          <p:cNvSpPr txBox="1"/>
          <p:nvPr/>
        </p:nvSpPr>
        <p:spPr>
          <a:xfrm>
            <a:off x="7569200" y="3225800"/>
            <a:ext cx="36068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Definitions + rules, governed in one place</a:t>
            </a:r>
            <a:endParaRPr lang="en-US" sz="1250" noProof="1"/>
          </a:p>
        </p:txBody>
      </p:sp>
      <p:sp>
        <p:nvSpPr>
          <p:cNvPr id="21" name="sl-band-rule"/>
          <p:cNvSpPr/>
          <p:nvPr/>
        </p:nvSpPr>
        <p:spPr>
          <a:xfrm>
            <a:off x="7569200" y="3530600"/>
            <a:ext cx="3606800" cy="12700"/>
          </a:xfrm>
          <a:prstGeom prst="rect">
            <a:avLst/>
          </a:prstGeom>
          <a:solidFill>
            <a:srgbClr val="B3501E">
              <a:alpha val="40000"/>
            </a:srgbClr>
          </a:solidFill>
          <a:ln>
            <a:noFill/>
          </a:ln>
        </p:spPr>
      </p:sp>
      <p:sp>
        <p:nvSpPr>
          <p:cNvPr id="22" name="sl-band-example"/>
          <p:cNvSpPr txBox="1"/>
          <p:nvPr/>
        </p:nvSpPr>
        <p:spPr>
          <a:xfrm>
            <a:off x="7569200" y="3657600"/>
            <a:ext cx="36068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100" noProof="1" b="1">
                <a:solidFill>
                  <a:srgbClr val="211D19"/>
                </a:solidFill>
                <a:latin typeface="MiSans"/>
                <a:ea typeface="MiSans"/>
              </a:rPr>
              <a:t>Example — Unbilled USD:</a:t>
            </a:r>
            <a:r>
              <a:rPr lang="en-US" sz="1100" noProof="1">
                <a:solidFill>
                  <a:srgbClr val="6E675E"/>
                </a:solidFill>
                <a:latin typeface="MiSans"/>
                <a:ea typeface="MiSans"/>
              </a:rPr>
              <a:t> sum of net gallons × contract price, delivered tickets with no posted invoice</a:t>
            </a:r>
            <a:endParaRPr lang="en-US" sz="1100" noProof="1"/>
          </a:p>
        </p:txBody>
      </p:sp>
      <p:sp>
        <p:nvSpPr>
          <p:cNvPr id="23" name="arr-4"/>
          <p:cNvSpPr/>
          <p:nvPr>
            <p:extLst>
              <p:ext uri="{F5677B7D-0D2A-4D9B-9A5C-6D8D7D0E5A5D}">
                <pptd:line encoding="base64url">eyJ2aWV3Qm94IjpbMiwyMl0sInBvaW50cyI6IjEsMCAxLDIyIiwiY3VydmUiOiJzaGFycCJ9</pptd:line>
              </p:ext>
            </p:extLst>
          </p:nvPr>
        </p:nvSpPr>
        <p:spPr>
          <a:xfrm>
            <a:off x="7988300" y="4292600"/>
            <a:ext cx="25400" cy="279400"/>
          </a:xfrm>
          <a:custGeom>
            <a:avLst/>
            <a:gdLst/>
            <a:ahLst/>
            <a:cxnLst/>
            <a:rect l="l" t="t" r="r" b="b"/>
            <a:pathLst>
              <a:path w="2" h="22">
                <a:moveTo>
                  <a:pt x="1" y="0"/>
                </a:moveTo>
                <a:lnTo>
                  <a:pt x="1" y="22"/>
                </a:lnTo>
              </a:path>
            </a:pathLst>
          </a:custGeom>
          <a:noFill/>
          <a:ln w="15240">
            <a:solidFill>
              <a:srgbClr val="9A938A"/>
            </a:solidFill>
            <a:headEnd type="arrow"/>
            <a:tailEnd type="arrow"/>
          </a:ln>
        </p:spPr>
      </p:sp>
      <p:sp>
        <p:nvSpPr>
          <p:cNvPr id="24" name="arr-5"/>
          <p:cNvSpPr/>
          <p:nvPr>
            <p:extLst>
              <p:ext uri="{F5677B7D-0D2A-4D9B-9A5C-6D8D7D0E5A5D}">
                <pptd:line encoding="base64url">eyJ2aWV3Qm94IjpbMiwyMl0sInBvaW50cyI6IjEsMCAxLDIyIiwiY3VydmUiOiJzaGFycCJ9</pptd:line>
              </p:ext>
            </p:extLst>
          </p:nvPr>
        </p:nvSpPr>
        <p:spPr>
          <a:xfrm>
            <a:off x="9359900" y="4292600"/>
            <a:ext cx="25400" cy="279400"/>
          </a:xfrm>
          <a:custGeom>
            <a:avLst/>
            <a:gdLst/>
            <a:ahLst/>
            <a:cxnLst/>
            <a:rect l="l" t="t" r="r" b="b"/>
            <a:pathLst>
              <a:path w="2" h="22">
                <a:moveTo>
                  <a:pt x="1" y="0"/>
                </a:moveTo>
                <a:lnTo>
                  <a:pt x="1" y="22"/>
                </a:lnTo>
              </a:path>
            </a:pathLst>
          </a:custGeom>
          <a:noFill/>
          <a:ln w="15240">
            <a:solidFill>
              <a:srgbClr val="9A938A"/>
            </a:solidFill>
            <a:headEnd type="arrow"/>
            <a:tailEnd type="arrow"/>
          </a:ln>
        </p:spPr>
      </p:sp>
      <p:sp>
        <p:nvSpPr>
          <p:cNvPr id="25" name="arr-6"/>
          <p:cNvSpPr/>
          <p:nvPr>
            <p:extLst>
              <p:ext uri="{F5677B7D-0D2A-4D9B-9A5C-6D8D7D0E5A5D}">
                <pptd:line encoding="base64url">eyJ2aWV3Qm94IjpbMiwyMl0sInBvaW50cyI6IjEsMCAxLDIyIiwiY3VydmUiOiJzaGFycCJ9</pptd:line>
              </p:ext>
            </p:extLst>
          </p:nvPr>
        </p:nvSpPr>
        <p:spPr>
          <a:xfrm>
            <a:off x="10731500" y="4292600"/>
            <a:ext cx="25400" cy="279400"/>
          </a:xfrm>
          <a:custGeom>
            <a:avLst/>
            <a:gdLst/>
            <a:ahLst/>
            <a:cxnLst/>
            <a:rect l="l" t="t" r="r" b="b"/>
            <a:pathLst>
              <a:path w="2" h="22">
                <a:moveTo>
                  <a:pt x="1" y="0"/>
                </a:moveTo>
                <a:lnTo>
                  <a:pt x="1" y="22"/>
                </a:lnTo>
              </a:path>
            </a:pathLst>
          </a:custGeom>
          <a:noFill/>
          <a:ln w="15240">
            <a:solidFill>
              <a:srgbClr val="9A938A"/>
            </a:solidFill>
            <a:headEnd type="arrow"/>
            <a:tailEnd type="arrow"/>
          </a:ln>
        </p:spPr>
      </p:sp>
      <p:sp>
        <p:nvSpPr>
          <p:cNvPr id="26" name="data-band"/>
          <p:cNvSpPr/>
          <p:nvPr/>
        </p:nvSpPr>
        <p:spPr>
          <a:xfrm>
            <a:off x="7366000" y="4572000"/>
            <a:ext cx="40132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</p:spPr>
      </p:sp>
      <p:sp>
        <p:nvSpPr>
          <p:cNvPr id="27" name="data-band-title"/>
          <p:cNvSpPr txBox="1"/>
          <p:nvPr/>
        </p:nvSpPr>
        <p:spPr>
          <a:xfrm>
            <a:off x="7569200" y="4673600"/>
            <a:ext cx="36068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50" noProof="1" spc="150" kern="0">
                <a:solidFill>
                  <a:srgbClr val="6E675E"/>
                </a:solidFill>
                <a:latin typeface="MiSans"/>
                <a:ea typeface="MiSans"/>
              </a:rPr>
              <a:t>DATA</a:t>
            </a:r>
            <a:endParaRPr lang="en-US" sz="1050" noProof="1"/>
          </a:p>
        </p:txBody>
      </p:sp>
      <p:sp>
        <p:nvSpPr>
          <p:cNvPr id="28" name="data-band-sub"/>
          <p:cNvSpPr txBox="1"/>
          <p:nvPr/>
        </p:nvSpPr>
        <p:spPr>
          <a:xfrm>
            <a:off x="7569200" y="4876800"/>
            <a:ext cx="36068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0000"/>
              </a:lnSpc>
            </a:pPr>
            <a:r>
              <a:rPr lang="en-US" sz="1150" noProof="1">
                <a:solidFill>
                  <a:srgbClr val="211D19"/>
                </a:solidFill>
                <a:latin typeface="MiSans"/>
                <a:ea typeface="MiSans"/>
              </a:rPr>
              <a:t>Warehouse tables · operational systems — the data stays where it lives</a:t>
            </a:r>
            <a:endParaRPr lang="en-US" sz="1150" noProof="1"/>
          </a:p>
        </p:txBody>
      </p:sp>
      <p:sp>
        <p:nvSpPr>
          <p:cNvPr id="29" name="analogy"/>
          <p:cNvSpPr txBox="1"/>
          <p:nvPr/>
        </p:nvSpPr>
        <p:spPr>
          <a:xfrm>
            <a:off x="7366000" y="5511800"/>
            <a:ext cx="40132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100" noProof="1" i="1">
                <a:solidFill>
                  <a:srgbClr val="6E675E"/>
                </a:solidFill>
                <a:latin typeface="MiSans"/>
                <a:ea typeface="MiSans"/>
              </a:rPr>
              <a:t>Like a restaurant menu: you order the dish — you don't need to know how the kitchen made it.</a:t>
            </a:r>
            <a:endParaRPr lang="en-US" sz="1100" noProof="1"/>
          </a:p>
        </p:txBody>
      </p:sp>
      <p:sp>
        <p:nvSpPr>
          <p:cNvPr id="30" name="footer-left"/>
          <p:cNvSpPr txBox="1"/>
          <p:nvPr/>
        </p:nvSpPr>
        <p:spPr>
          <a:xfrm>
            <a:off x="812800" y="6527800"/>
            <a:ext cx="711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9A938A"/>
                </a:solidFill>
                <a:latin typeface="MiSans"/>
                <a:ea typeface="MiSans"/>
              </a:rPr>
              <a:t>Anchor example: O2C unbilled exposure — from the EPM demo (fct_unbilled, one certified metric)</a:t>
            </a:r>
            <a:endParaRPr lang="en-US" sz="1000" noProof="1"/>
          </a:p>
        </p:txBody>
      </p:sp>
      <p:sp>
        <p:nvSpPr>
          <p:cNvPr id="31" name="footer-right"/>
          <p:cNvSpPr txBox="1"/>
          <p:nvPr/>
        </p:nvSpPr>
        <p:spPr>
          <a:xfrm>
            <a:off x="10541000" y="6527800"/>
            <a:ext cx="838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A938A"/>
                </a:solidFill>
                <a:latin typeface="MiSans"/>
                <a:ea typeface="MiSans"/>
              </a:rPr>
              <a:t>02 / 04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826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6E675E"/>
                </a:solidFill>
                <a:latin typeface="MiSans"/>
                <a:ea typeface="MiSans"/>
              </a:rPr>
              <a:t>SOLUTION 2 OF 2 — ONTOLOGY · FIXES THE MEANING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36600"/>
            <a:ext cx="9144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noProof="1" b="1">
                <a:solidFill>
                  <a:srgbClr val="211D19"/>
                </a:solidFill>
                <a:latin typeface="MiSans"/>
                <a:ea typeface="MiSans"/>
              </a:rPr>
              <a:t>What is an ontology?</a:t>
            </a:r>
            <a:endParaRPr lang="en-US" sz="32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498600"/>
            <a:ext cx="10566400" cy="12700"/>
          </a:xfrm>
          <a:prstGeom prst="rect">
            <a:avLst/>
          </a:prstGeom>
          <a:solidFill>
            <a:srgbClr val="DDD6CC"/>
          </a:solidFill>
          <a:ln>
            <a:noFill/>
          </a:ln>
        </p:spPr>
      </p:sp>
      <p:sp>
        <p:nvSpPr>
          <p:cNvPr id="5" name="definition"/>
          <p:cNvSpPr txBox="1"/>
          <p:nvPr/>
        </p:nvSpPr>
        <p:spPr>
          <a:xfrm>
            <a:off x="812800" y="1778000"/>
            <a:ext cx="59690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750" noProof="1">
                <a:solidFill>
                  <a:srgbClr val="211D19"/>
                </a:solidFill>
                <a:latin typeface="MiSans"/>
                <a:ea typeface="MiSans"/>
              </a:rPr>
              <a:t>A </a:t>
            </a:r>
            <a:r>
              <a:rPr lang="en-US" sz="1750" noProof="1" b="1">
                <a:solidFill>
                  <a:srgbClr val="211D19"/>
                </a:solidFill>
                <a:latin typeface="MiSans"/>
                <a:ea typeface="MiSans"/>
              </a:rPr>
              <a:t>formal model of what exists in the business</a:t>
            </a:r>
            <a:r>
              <a:rPr lang="en-US" sz="1750" noProof="1">
                <a:solidFill>
                  <a:srgbClr val="211D19"/>
                </a:solidFill>
                <a:latin typeface="MiSans"/>
                <a:ea typeface="MiSans"/>
              </a:rPr>
              <a:t> and how those things relate — it defines </a:t>
            </a:r>
            <a:r>
              <a:rPr lang="en-US" sz="1750" noProof="1" b="1">
                <a:solidFill>
                  <a:srgbClr val="211D19"/>
                </a:solidFill>
                <a:latin typeface="MiSans"/>
                <a:ea typeface="MiSans"/>
              </a:rPr>
              <a:t>meaning</a:t>
            </a:r>
            <a:r>
              <a:rPr lang="en-US" sz="1750" noProof="1">
                <a:solidFill>
                  <a:srgbClr val="211D19"/>
                </a:solidFill>
                <a:latin typeface="MiSans"/>
                <a:ea typeface="MiSans"/>
              </a:rPr>
              <a:t>, not math.</a:t>
            </a:r>
            <a:endParaRPr lang="en-US" sz="1750" noProof="1"/>
          </a:p>
        </p:txBody>
      </p:sp>
      <p:sp>
        <p:nvSpPr>
          <p:cNvPr id="6" name="bullets"/>
          <p:cNvSpPr txBox="1"/>
          <p:nvPr/>
        </p:nvSpPr>
        <p:spPr>
          <a:xfrm>
            <a:off x="812800" y="3327400"/>
            <a:ext cx="5969000" cy="266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50000"/>
              </a:lnSpc>
            </a:pPr>
            <a:r>
              <a:rPr lang="en-US" sz="1250" noProof="1">
                <a:solidFill>
                  <a:srgbClr val="2E5D46"/>
                </a:solidFill>
                <a:latin typeface="MiSans"/>
                <a:ea typeface="MiSans"/>
              </a:rPr>
              <a:t>■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 </a:t>
            </a:r>
            <a:r>
              <a:rPr lang="en-US" sz="1250" noProof="1" b="1">
                <a:solidFill>
                  <a:srgbClr val="211D19"/>
                </a:solidFill>
                <a:latin typeface="MiSans"/>
                <a:ea typeface="MiSans"/>
              </a:rPr>
              <a:t>The nouns and verbs of the domain.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 Parties, contracts, terminals, custody tickets — and the relationships between them, like sold-to, payer, ship-to.</a:t>
            </a:r>
            <a:endParaRPr lang="en-US" sz="1250" noProof="1"/>
          </a:p>
          <a:p>
            <a:pPr algn="l">
              <a:lnSpc>
                <a:spcPct val="150000"/>
              </a:lnSpc>
              <a:spcBef>
                <a:spcPts val="1100"/>
              </a:spcBef>
            </a:pPr>
            <a:r>
              <a:rPr lang="en-US" sz="1250" noProof="1">
                <a:solidFill>
                  <a:srgbClr val="2E5D46"/>
                </a:solidFill>
                <a:latin typeface="MiSans"/>
                <a:ea typeface="MiSans"/>
              </a:rPr>
              <a:t>■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 </a:t>
            </a:r>
            <a:r>
              <a:rPr lang="en-US" sz="1250" noProof="1" b="1">
                <a:solidFill>
                  <a:srgbClr val="211D19"/>
                </a:solidFill>
                <a:latin typeface="MiSans"/>
                <a:ea typeface="MiSans"/>
              </a:rPr>
              <a:t>Machine-readable meaning.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 Written so people and AI can validate, connect, and reason over it — not just read it in a wiki.</a:t>
            </a:r>
            <a:endParaRPr lang="en-US" sz="1250" noProof="1"/>
          </a:p>
          <a:p>
            <a:pPr algn="l">
              <a:lnSpc>
                <a:spcPct val="150000"/>
              </a:lnSpc>
              <a:spcBef>
                <a:spcPts val="1100"/>
              </a:spcBef>
            </a:pPr>
            <a:r>
              <a:rPr lang="en-US" sz="1250" noProof="1">
                <a:solidFill>
                  <a:srgbClr val="2E5D46"/>
                </a:solidFill>
                <a:latin typeface="MiSans"/>
                <a:ea typeface="MiSans"/>
              </a:rPr>
              <a:t>■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 </a:t>
            </a:r>
            <a:r>
              <a:rPr lang="en-US" sz="1250" noProof="1" b="1">
                <a:solidFill>
                  <a:srgbClr val="211D19"/>
                </a:solidFill>
                <a:latin typeface="MiSans"/>
                <a:ea typeface="MiSans"/>
              </a:rPr>
              <a:t>Meaning outlives implementation.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 The concept of a customer survives every system migration; today's formulas and tools may not.</a:t>
            </a:r>
            <a:endParaRPr lang="en-US" sz="1250" noProof="1"/>
          </a:p>
          <a:p>
            <a:pPr algn="l">
              <a:lnSpc>
                <a:spcPct val="150000"/>
              </a:lnSpc>
              <a:spcBef>
                <a:spcPts val="1100"/>
              </a:spcBef>
            </a:pPr>
            <a:r>
              <a:rPr lang="en-US" sz="1250" noProof="1">
                <a:solidFill>
                  <a:srgbClr val="2E5D46"/>
                </a:solidFill>
                <a:latin typeface="MiSans"/>
                <a:ea typeface="MiSans"/>
              </a:rPr>
              <a:t>■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 </a:t>
            </a:r>
            <a:r>
              <a:rPr lang="en-US" sz="1250" noProof="1" b="1">
                <a:solidFill>
                  <a:srgbClr val="211D19"/>
                </a:solidFill>
                <a:latin typeface="MiSans"/>
                <a:ea typeface="MiSans"/>
              </a:rPr>
              <a:t>A spectrum, not a two-year project.</a:t>
            </a:r>
            <a:r>
              <a:rPr lang="en-US" sz="1250" noProof="1">
                <a:solidFill>
                  <a:srgbClr val="211D19"/>
                </a:solidFill>
                <a:latin typeface="MiSans"/>
                <a:ea typeface="MiSans"/>
              </a:rPr>
              <a:t> Start with a glossary, add hierarchy and relationships, formalize only where the need is real.</a:t>
            </a:r>
            <a:endParaRPr lang="en-US" sz="1250" noProof="1"/>
          </a:p>
        </p:txBody>
      </p:sp>
      <p:sp>
        <p:nvSpPr>
          <p:cNvPr id="7" name="graph-label"/>
          <p:cNvSpPr txBox="1"/>
          <p:nvPr/>
        </p:nvSpPr>
        <p:spPr>
          <a:xfrm>
            <a:off x="7366000" y="1651000"/>
            <a:ext cx="4013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spc="150" kern="0">
                <a:solidFill>
                  <a:srgbClr val="6E675E"/>
                </a:solidFill>
                <a:latin typeface="MiSans"/>
                <a:ea typeface="MiSans"/>
              </a:rPr>
              <a:t>WHAT THINGS ARE, AND HOW THEY RELATE</a:t>
            </a:r>
            <a:endParaRPr lang="en-US" sz="1000" noProof="1"/>
          </a:p>
        </p:txBody>
      </p:sp>
      <p:sp>
        <p:nvSpPr>
          <p:cNvPr id="8" name="party-node"/>
          <p:cNvSpPr/>
          <p:nvPr/>
        </p:nvSpPr>
        <p:spPr>
          <a:xfrm>
            <a:off x="7366000" y="2603500"/>
            <a:ext cx="1168400" cy="609600"/>
          </a:xfrm>
          <a:prstGeom prst="rect">
            <a:avLst/>
          </a:prstGeom>
          <a:solidFill>
            <a:srgbClr val="2E5D46"/>
          </a:solidFill>
          <a:ln>
            <a:noFill/>
          </a:ln>
        </p:spPr>
      </p:sp>
      <p:sp>
        <p:nvSpPr>
          <p:cNvPr id="9" name="party-node-text"/>
          <p:cNvSpPr txBox="1"/>
          <p:nvPr/>
        </p:nvSpPr>
        <p:spPr>
          <a:xfrm>
            <a:off x="7366000" y="2603500"/>
            <a:ext cx="11684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50" noProof="1" b="1">
                <a:solidFill>
                  <a:srgbClr val="FFFFFF"/>
                </a:solidFill>
                <a:latin typeface="MiSans"/>
                <a:ea typeface="MiSans"/>
              </a:rPr>
              <a:t>Party</a:t>
            </a:r>
            <a:endParaRPr lang="en-US" sz="1250" noProof="1"/>
          </a:p>
        </p:txBody>
      </p:sp>
      <p:sp>
        <p:nvSpPr>
          <p:cNvPr id="10" name="edge-soldto"/>
          <p:cNvSpPr/>
          <p:nvPr>
            <p:extLst>
              <p:ext uri="{F5677B7D-0D2A-4D9B-9A5C-6D8D7D0E5A5D}">
                <pptd:line encoding="base64url">eyJ2aWV3Qm94IjpbNjgsNTldLCJwb2ludHMiOiIwLDU5IDY4LDAiLCJjdXJ2ZSI6InNoYXJwIn0</pptd:line>
              </p:ext>
            </p:extLst>
          </p:nvPr>
        </p:nvSpPr>
        <p:spPr>
          <a:xfrm>
            <a:off x="8534400" y="2159000"/>
            <a:ext cx="863600" cy="749300"/>
          </a:xfrm>
          <a:custGeom>
            <a:avLst/>
            <a:gdLst/>
            <a:ahLst/>
            <a:cxnLst/>
            <a:rect l="l" t="t" r="r" b="b"/>
            <a:pathLst>
              <a:path w="68" h="59">
                <a:moveTo>
                  <a:pt x="0" y="59"/>
                </a:moveTo>
                <a:lnTo>
                  <a:pt x="68" y="0"/>
                </a:lnTo>
              </a:path>
            </a:pathLst>
          </a:custGeom>
          <a:noFill/>
          <a:ln w="15240">
            <a:solidFill>
              <a:srgbClr val="2E5D46"/>
            </a:solidFill>
            <a:tailEnd type="arrow"/>
          </a:ln>
        </p:spPr>
      </p:sp>
      <p:sp>
        <p:nvSpPr>
          <p:cNvPr id="11" name="edge-payer"/>
          <p:cNvSpPr/>
          <p:nvPr>
            <p:extLst>
              <p:ext uri="{F5677B7D-0D2A-4D9B-9A5C-6D8D7D0E5A5D}">
                <pptd:line encoding="base64url">eyJ2aWV3Qm94IjpbNjgsMl0sInBvaW50cyI6IjAsMSA2OCwxIiwiY3VydmUiOiJzaGFycCJ9</pptd:line>
              </p:ext>
            </p:extLst>
          </p:nvPr>
        </p:nvSpPr>
        <p:spPr>
          <a:xfrm>
            <a:off x="8534400" y="2908300"/>
            <a:ext cx="863600" cy="25400"/>
          </a:xfrm>
          <a:custGeom>
            <a:avLst/>
            <a:gdLst/>
            <a:ahLst/>
            <a:cxnLst/>
            <a:rect l="l" t="t" r="r" b="b"/>
            <a:pathLst>
              <a:path w="68" h="2">
                <a:moveTo>
                  <a:pt x="0" y="1"/>
                </a:moveTo>
                <a:lnTo>
                  <a:pt x="68" y="1"/>
                </a:lnTo>
              </a:path>
            </a:pathLst>
          </a:custGeom>
          <a:noFill/>
          <a:ln w="15240">
            <a:solidFill>
              <a:srgbClr val="2E5D46"/>
            </a:solidFill>
            <a:tailEnd type="arrow"/>
          </a:ln>
        </p:spPr>
      </p:sp>
      <p:sp>
        <p:nvSpPr>
          <p:cNvPr id="12" name="edge-shipto"/>
          <p:cNvSpPr/>
          <p:nvPr>
            <p:extLst>
              <p:ext uri="{F5677B7D-0D2A-4D9B-9A5C-6D8D7D0E5A5D}">
                <pptd:line encoding="base64url">eyJ2aWV3Qm94IjpbNjgsNjFdLCJwb2ludHMiOiIwLDAgNjgsNjEiLCJjdXJ2ZSI6InNoYXJwIn0</pptd:line>
              </p:ext>
            </p:extLst>
          </p:nvPr>
        </p:nvSpPr>
        <p:spPr>
          <a:xfrm>
            <a:off x="8534400" y="2908300"/>
            <a:ext cx="863600" cy="774700"/>
          </a:xfrm>
          <a:custGeom>
            <a:avLst/>
            <a:gdLst/>
            <a:ahLst/>
            <a:cxnLst/>
            <a:rect l="l" t="t" r="r" b="b"/>
            <a:pathLst>
              <a:path w="68" h="61">
                <a:moveTo>
                  <a:pt x="0" y="0"/>
                </a:moveTo>
                <a:lnTo>
                  <a:pt x="68" y="61"/>
                </a:lnTo>
              </a:path>
            </a:pathLst>
          </a:custGeom>
          <a:noFill/>
          <a:ln w="15240">
            <a:solidFill>
              <a:srgbClr val="2E5D46"/>
            </a:solidFill>
            <a:tailEnd type="arrow"/>
          </a:ln>
        </p:spPr>
      </p:sp>
      <p:sp>
        <p:nvSpPr>
          <p:cNvPr id="13" name="edge-label"/>
          <p:cNvSpPr txBox="1"/>
          <p:nvPr/>
        </p:nvSpPr>
        <p:spPr>
          <a:xfrm>
            <a:off x="8331200" y="2489200"/>
            <a:ext cx="1143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00" noProof="1">
                <a:solidFill>
                  <a:srgbClr val="6E675E"/>
                </a:solidFill>
                <a:latin typeface="MiSans"/>
                <a:ea typeface="MiSans"/>
              </a:rPr>
              <a:t>plays role of</a:t>
            </a:r>
            <a:endParaRPr lang="en-US" sz="900" noProof="1"/>
          </a:p>
        </p:txBody>
      </p:sp>
      <p:sp>
        <p:nvSpPr>
          <p:cNvPr id="14" name="role-1"/>
          <p:cNvSpPr/>
          <p:nvPr/>
        </p:nvSpPr>
        <p:spPr>
          <a:xfrm>
            <a:off x="9398000" y="1879600"/>
            <a:ext cx="1676400" cy="558800"/>
          </a:xfrm>
          <a:prstGeom prst="rect">
            <a:avLst/>
          </a:prstGeom>
          <a:solidFill>
            <a:srgbClr val="2E5D46">
              <a:alpha val="7059"/>
            </a:srgbClr>
          </a:solidFill>
          <a:ln w="15240">
            <a:solidFill>
              <a:srgbClr val="2E5D46"/>
            </a:solidFill>
          </a:ln>
        </p:spPr>
      </p:sp>
      <p:sp>
        <p:nvSpPr>
          <p:cNvPr id="15" name="role-1-text"/>
          <p:cNvSpPr txBox="1"/>
          <p:nvPr/>
        </p:nvSpPr>
        <p:spPr>
          <a:xfrm>
            <a:off x="9398000" y="1879600"/>
            <a:ext cx="167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150" noProof="1" b="1">
                <a:solidFill>
                  <a:srgbClr val="2E5D46"/>
                </a:solidFill>
                <a:latin typeface="MiSans"/>
                <a:ea typeface="MiSans"/>
              </a:rPr>
              <a:t>Sold-to</a:t>
            </a:r>
            <a:endParaRPr lang="en-US" sz="900" noProof="1"/>
          </a:p>
          <a:p>
            <a:pPr algn="ctr">
              <a:lnSpc>
                <a:spcPct val="130000"/>
              </a:lnSpc>
            </a:pPr>
            <a:r>
              <a:rPr lang="en-US" sz="900" noProof="1">
                <a:solidFill>
                  <a:srgbClr val="6E675E"/>
                </a:solidFill>
                <a:latin typeface="MiSans"/>
                <a:ea typeface="MiSans"/>
              </a:rPr>
              <a:t>on the contract</a:t>
            </a:r>
            <a:endParaRPr lang="en-US" sz="900" noProof="1"/>
          </a:p>
        </p:txBody>
      </p:sp>
      <p:sp>
        <p:nvSpPr>
          <p:cNvPr id="16" name="role-2"/>
          <p:cNvSpPr/>
          <p:nvPr/>
        </p:nvSpPr>
        <p:spPr>
          <a:xfrm>
            <a:off x="9398000" y="2641600"/>
            <a:ext cx="1676400" cy="558800"/>
          </a:xfrm>
          <a:prstGeom prst="rect">
            <a:avLst/>
          </a:prstGeom>
          <a:solidFill>
            <a:srgbClr val="2E5D46">
              <a:alpha val="7059"/>
            </a:srgbClr>
          </a:solidFill>
          <a:ln w="15240">
            <a:solidFill>
              <a:srgbClr val="2E5D46"/>
            </a:solidFill>
          </a:ln>
        </p:spPr>
      </p:sp>
      <p:sp>
        <p:nvSpPr>
          <p:cNvPr id="17" name="role-2-text"/>
          <p:cNvSpPr txBox="1"/>
          <p:nvPr/>
        </p:nvSpPr>
        <p:spPr>
          <a:xfrm>
            <a:off x="9398000" y="2641600"/>
            <a:ext cx="167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150" noProof="1" b="1">
                <a:solidFill>
                  <a:srgbClr val="2E5D46"/>
                </a:solidFill>
                <a:latin typeface="MiSans"/>
                <a:ea typeface="MiSans"/>
              </a:rPr>
              <a:t>Payer</a:t>
            </a:r>
            <a:endParaRPr lang="en-US" sz="900" noProof="1"/>
          </a:p>
          <a:p>
            <a:pPr algn="ctr">
              <a:lnSpc>
                <a:spcPct val="130000"/>
              </a:lnSpc>
            </a:pPr>
            <a:r>
              <a:rPr lang="en-US" sz="900" noProof="1">
                <a:solidFill>
                  <a:srgbClr val="6E675E"/>
                </a:solidFill>
                <a:latin typeface="MiSans"/>
                <a:ea typeface="MiSans"/>
              </a:rPr>
              <a:t>on the invoice</a:t>
            </a:r>
            <a:endParaRPr lang="en-US" sz="900" noProof="1"/>
          </a:p>
        </p:txBody>
      </p:sp>
      <p:sp>
        <p:nvSpPr>
          <p:cNvPr id="18" name="role-3"/>
          <p:cNvSpPr/>
          <p:nvPr/>
        </p:nvSpPr>
        <p:spPr>
          <a:xfrm>
            <a:off x="9398000" y="3403600"/>
            <a:ext cx="1676400" cy="558800"/>
          </a:xfrm>
          <a:prstGeom prst="rect">
            <a:avLst/>
          </a:prstGeom>
          <a:solidFill>
            <a:srgbClr val="2E5D46">
              <a:alpha val="7059"/>
            </a:srgbClr>
          </a:solidFill>
          <a:ln w="15240">
            <a:solidFill>
              <a:srgbClr val="2E5D46"/>
            </a:solidFill>
          </a:ln>
        </p:spPr>
      </p:sp>
      <p:sp>
        <p:nvSpPr>
          <p:cNvPr id="19" name="role-3-text"/>
          <p:cNvSpPr txBox="1"/>
          <p:nvPr/>
        </p:nvSpPr>
        <p:spPr>
          <a:xfrm>
            <a:off x="9398000" y="3403600"/>
            <a:ext cx="167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30000"/>
              </a:lnSpc>
            </a:pPr>
            <a:r>
              <a:rPr lang="en-US" sz="1150" noProof="1" b="1">
                <a:solidFill>
                  <a:srgbClr val="2E5D46"/>
                </a:solidFill>
                <a:latin typeface="MiSans"/>
                <a:ea typeface="MiSans"/>
              </a:rPr>
              <a:t>Ship-to</a:t>
            </a:r>
            <a:endParaRPr lang="en-US" sz="900" noProof="1"/>
          </a:p>
          <a:p>
            <a:pPr algn="ctr">
              <a:lnSpc>
                <a:spcPct val="130000"/>
              </a:lnSpc>
            </a:pPr>
            <a:r>
              <a:rPr lang="en-US" sz="900" noProof="1">
                <a:solidFill>
                  <a:srgbClr val="6E675E"/>
                </a:solidFill>
                <a:latin typeface="MiSans"/>
                <a:ea typeface="MiSans"/>
              </a:rPr>
              <a:t>at the delivery point</a:t>
            </a:r>
            <a:endParaRPr lang="en-US" sz="900" noProof="1"/>
          </a:p>
        </p:txBody>
      </p:sp>
      <p:sp>
        <p:nvSpPr>
          <p:cNvPr id="20" name="graph-caption"/>
          <p:cNvSpPr txBox="1"/>
          <p:nvPr/>
        </p:nvSpPr>
        <p:spPr>
          <a:xfrm>
            <a:off x="7366000" y="4140200"/>
            <a:ext cx="40132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0000"/>
              </a:lnSpc>
            </a:pPr>
            <a:r>
              <a:rPr lang="en-US" sz="1050" noProof="1">
                <a:solidFill>
                  <a:srgbClr val="6E675E"/>
                </a:solidFill>
                <a:latin typeface="MiSans"/>
                <a:ea typeface="MiSans"/>
              </a:rPr>
              <a:t>One party, many roles. In the O2C demo the invoice goes to the </a:t>
            </a:r>
            <a:r>
              <a:rPr lang="en-US" sz="1050" noProof="1" b="1">
                <a:solidFill>
                  <a:srgbClr val="6E675E"/>
                </a:solidFill>
                <a:latin typeface="MiSans"/>
                <a:ea typeface="MiSans"/>
              </a:rPr>
              <a:t>payer</a:t>
            </a:r>
            <a:r>
              <a:rPr lang="en-US" sz="1050" noProof="1">
                <a:solidFill>
                  <a:srgbClr val="6E675E"/>
                </a:solidFill>
                <a:latin typeface="MiSans"/>
                <a:ea typeface="MiSans"/>
              </a:rPr>
              <a:t>, not the sold-to — and the ship-to is a terminal. Mixing roles is what makes “unbilled by customer” unreliable.</a:t>
            </a:r>
            <a:endParaRPr lang="en-US" sz="1050" noProof="1"/>
          </a:p>
        </p:txBody>
      </p:sp>
      <p:sp>
        <p:nvSpPr>
          <p:cNvPr id="21" name="spectrum-label"/>
          <p:cNvSpPr txBox="1"/>
          <p:nvPr/>
        </p:nvSpPr>
        <p:spPr>
          <a:xfrm>
            <a:off x="7366000" y="4876800"/>
            <a:ext cx="4013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spc="150" kern="0">
                <a:solidFill>
                  <a:srgbClr val="6E675E"/>
                </a:solidFill>
                <a:latin typeface="MiSans"/>
                <a:ea typeface="MiSans"/>
              </a:rPr>
              <a:t>HOW FORMAL DOES IT NEED TO BE?</a:t>
            </a:r>
            <a:endParaRPr lang="en-US" sz="1000" noProof="1"/>
          </a:p>
        </p:txBody>
      </p:sp>
      <p:sp>
        <p:nvSpPr>
          <p:cNvPr id="22" name="spectrum-marker-label"/>
          <p:cNvSpPr txBox="1"/>
          <p:nvPr/>
        </p:nvSpPr>
        <p:spPr>
          <a:xfrm>
            <a:off x="8128000" y="5130800"/>
            <a:ext cx="24130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950" noProof="1" b="1">
                <a:solidFill>
                  <a:srgbClr val="2E5D46"/>
                </a:solidFill>
                <a:latin typeface="MiSans"/>
                <a:ea typeface="MiSans"/>
              </a:rPr>
              <a:t>Most teams need the middle</a:t>
            </a:r>
            <a:endParaRPr lang="en-US" sz="950" noProof="1"/>
          </a:p>
        </p:txBody>
      </p:sp>
      <p:sp>
        <p:nvSpPr>
          <p:cNvPr id="23" name="spectrum-marker"/>
          <p:cNvSpPr/>
          <p:nvPr/>
        </p:nvSpPr>
        <p:spPr>
          <a:xfrm>
            <a:off x="9271000" y="5334000"/>
            <a:ext cx="152400" cy="127000"/>
          </a:xfrm>
          <a:prstGeom prst="triangle">
            <a:avLst/>
          </a:prstGeom>
          <a:solidFill>
            <a:srgbClr val="2E5D46"/>
          </a:solidFill>
          <a:ln>
            <a:noFill/>
          </a:ln>
        </p:spPr>
      </p:sp>
      <p:sp>
        <p:nvSpPr>
          <p:cNvPr id="24" name="spectrum-bar"/>
          <p:cNvSpPr/>
          <p:nvPr>
            <p:extLst>
              <p:ext uri="{F5677B7D-0D2A-4D9B-9A5C-6D8D7D0E5A5D}">
                <pptd:line encoding="base64url">eyJ2aWV3Qm94IjpbMjkyLDJdLCJwb2ludHMiOiIwLDEgMjkyLDEiLCJjdXJ2ZSI6InNoYXJwIn0</pptd:line>
              </p:ext>
            </p:extLst>
          </p:nvPr>
        </p:nvSpPr>
        <p:spPr>
          <a:xfrm>
            <a:off x="7467600" y="5537200"/>
            <a:ext cx="3708400" cy="25400"/>
          </a:xfrm>
          <a:custGeom>
            <a:avLst/>
            <a:gdLst/>
            <a:ahLst/>
            <a:cxnLst/>
            <a:rect l="l" t="t" r="r" b="b"/>
            <a:pathLst>
              <a:path w="292" h="2">
                <a:moveTo>
                  <a:pt x="0" y="1"/>
                </a:moveTo>
                <a:lnTo>
                  <a:pt x="292" y="1"/>
                </a:lnTo>
              </a:path>
            </a:pathLst>
          </a:custGeom>
          <a:noFill/>
          <a:ln w="19050">
            <a:solidFill>
              <a:srgbClr val="9A938A"/>
            </a:solidFill>
            <a:tailEnd type="arrow"/>
          </a:ln>
        </p:spPr>
      </p:sp>
      <p:sp>
        <p:nvSpPr>
          <p:cNvPr id="25" name="tick-1"/>
          <p:cNvSpPr/>
          <p:nvPr/>
        </p:nvSpPr>
        <p:spPr>
          <a:xfrm>
            <a:off x="7467600" y="5473700"/>
            <a:ext cx="12700" cy="127000"/>
          </a:xfrm>
          <a:prstGeom prst="rect">
            <a:avLst/>
          </a:prstGeom>
          <a:solidFill>
            <a:srgbClr val="9A938A"/>
          </a:solidFill>
          <a:ln>
            <a:noFill/>
          </a:ln>
        </p:spPr>
      </p:sp>
      <p:sp>
        <p:nvSpPr>
          <p:cNvPr id="26" name="tick-2"/>
          <p:cNvSpPr/>
          <p:nvPr/>
        </p:nvSpPr>
        <p:spPr>
          <a:xfrm>
            <a:off x="8699500" y="5473700"/>
            <a:ext cx="12700" cy="127000"/>
          </a:xfrm>
          <a:prstGeom prst="rect">
            <a:avLst/>
          </a:prstGeom>
          <a:solidFill>
            <a:srgbClr val="9A938A"/>
          </a:solidFill>
          <a:ln>
            <a:noFill/>
          </a:ln>
        </p:spPr>
      </p:sp>
      <p:sp>
        <p:nvSpPr>
          <p:cNvPr id="27" name="tick-3"/>
          <p:cNvSpPr/>
          <p:nvPr/>
        </p:nvSpPr>
        <p:spPr>
          <a:xfrm>
            <a:off x="9931400" y="5473700"/>
            <a:ext cx="12700" cy="127000"/>
          </a:xfrm>
          <a:prstGeom prst="rect">
            <a:avLst/>
          </a:prstGeom>
          <a:solidFill>
            <a:srgbClr val="9A938A"/>
          </a:solidFill>
          <a:ln>
            <a:noFill/>
          </a:ln>
        </p:spPr>
      </p:sp>
      <p:sp>
        <p:nvSpPr>
          <p:cNvPr id="28" name="tick-4"/>
          <p:cNvSpPr/>
          <p:nvPr/>
        </p:nvSpPr>
        <p:spPr>
          <a:xfrm>
            <a:off x="11163300" y="5473700"/>
            <a:ext cx="12700" cy="127000"/>
          </a:xfrm>
          <a:prstGeom prst="rect">
            <a:avLst/>
          </a:prstGeom>
          <a:solidFill>
            <a:srgbClr val="9A938A"/>
          </a:solidFill>
          <a:ln>
            <a:noFill/>
          </a:ln>
        </p:spPr>
      </p:sp>
      <p:sp>
        <p:nvSpPr>
          <p:cNvPr id="29" name="tick-1-label"/>
          <p:cNvSpPr txBox="1"/>
          <p:nvPr/>
        </p:nvSpPr>
        <p:spPr>
          <a:xfrm>
            <a:off x="7010400" y="5689600"/>
            <a:ext cx="965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30000"/>
              </a:lnSpc>
            </a:pPr>
            <a:r>
              <a:rPr lang="en-US" sz="950" noProof="1">
                <a:solidFill>
                  <a:srgbClr val="6E675E"/>
                </a:solidFill>
                <a:latin typeface="MiSans"/>
                <a:ea typeface="MiSans"/>
              </a:rPr>
              <a:t>Flat glossary</a:t>
            </a:r>
            <a:endParaRPr lang="en-US" sz="950" noProof="1"/>
          </a:p>
        </p:txBody>
      </p:sp>
      <p:sp>
        <p:nvSpPr>
          <p:cNvPr id="30" name="tick-2-label"/>
          <p:cNvSpPr txBox="1"/>
          <p:nvPr/>
        </p:nvSpPr>
        <p:spPr>
          <a:xfrm>
            <a:off x="8216900" y="5689600"/>
            <a:ext cx="965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30000"/>
              </a:lnSpc>
            </a:pPr>
            <a:r>
              <a:rPr lang="en-US" sz="950" noProof="1">
                <a:solidFill>
                  <a:srgbClr val="6E675E"/>
                </a:solidFill>
                <a:latin typeface="MiSans"/>
                <a:ea typeface="MiSans"/>
              </a:rPr>
              <a:t>Hierarchical glossary</a:t>
            </a:r>
            <a:endParaRPr lang="en-US" sz="950" noProof="1"/>
          </a:p>
        </p:txBody>
      </p:sp>
      <p:sp>
        <p:nvSpPr>
          <p:cNvPr id="31" name="tick-3-label"/>
          <p:cNvSpPr txBox="1"/>
          <p:nvPr/>
        </p:nvSpPr>
        <p:spPr>
          <a:xfrm>
            <a:off x="9448800" y="5689600"/>
            <a:ext cx="9652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30000"/>
              </a:lnSpc>
            </a:pPr>
            <a:r>
              <a:rPr lang="en-US" sz="950" noProof="1">
                <a:solidFill>
                  <a:srgbClr val="6E675E"/>
                </a:solidFill>
                <a:latin typeface="MiSans"/>
                <a:ea typeface="MiSans"/>
              </a:rPr>
              <a:t>Concept model</a:t>
            </a:r>
            <a:endParaRPr lang="en-US" sz="950" noProof="1"/>
          </a:p>
        </p:txBody>
      </p:sp>
      <p:sp>
        <p:nvSpPr>
          <p:cNvPr id="32" name="tick-4-label"/>
          <p:cNvSpPr txBox="1"/>
          <p:nvPr/>
        </p:nvSpPr>
        <p:spPr>
          <a:xfrm>
            <a:off x="10591800" y="5689600"/>
            <a:ext cx="1117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30000"/>
              </a:lnSpc>
            </a:pPr>
            <a:r>
              <a:rPr lang="en-US" sz="950" noProof="1">
                <a:solidFill>
                  <a:srgbClr val="6E675E"/>
                </a:solidFill>
                <a:latin typeface="MiSans"/>
                <a:ea typeface="MiSans"/>
              </a:rPr>
              <a:t>Formal ontology (RDF/OWL)</a:t>
            </a:r>
            <a:endParaRPr lang="en-US" sz="950" noProof="1"/>
          </a:p>
        </p:txBody>
      </p:sp>
      <p:sp>
        <p:nvSpPr>
          <p:cNvPr id="33" name="footer-left"/>
          <p:cNvSpPr txBox="1"/>
          <p:nvPr/>
        </p:nvSpPr>
        <p:spPr>
          <a:xfrm>
            <a:off x="812800" y="6527800"/>
            <a:ext cx="7112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9A938A"/>
                </a:solidFill>
                <a:latin typeface="MiSans"/>
                <a:ea typeface="MiSans"/>
              </a:rPr>
              <a:t>Anchor example: party roles in O2C — from the EPM demo ontology (o2c-meaning.ttl)</a:t>
            </a:r>
            <a:endParaRPr lang="en-US" sz="1000" noProof="1"/>
          </a:p>
        </p:txBody>
      </p:sp>
      <p:sp>
        <p:nvSpPr>
          <p:cNvPr id="34" name="footer-right"/>
          <p:cNvSpPr txBox="1"/>
          <p:nvPr/>
        </p:nvSpPr>
        <p:spPr>
          <a:xfrm>
            <a:off x="10541000" y="6527800"/>
            <a:ext cx="838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A938A"/>
                </a:solidFill>
                <a:latin typeface="MiSans"/>
                <a:ea typeface="MiSans"/>
              </a:rPr>
              <a:t>03 / 04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826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spc="200" kern="0">
                <a:solidFill>
                  <a:srgbClr val="6E675E"/>
                </a:solidFill>
                <a:latin typeface="MiSans"/>
                <a:ea typeface="MiSans"/>
              </a:rPr>
              <a:t>PUTTING IT TOGETHER — ONTOLOGY · SEMANTIC LAYER · KPI STORE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36600"/>
            <a:ext cx="965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3200" noProof="1" b="1">
                <a:solidFill>
                  <a:srgbClr val="211D19"/>
                </a:solidFill>
                <a:latin typeface="MiSans"/>
                <a:ea typeface="MiSans"/>
              </a:rPr>
              <a:t>One question, one governed path to the answer</a:t>
            </a:r>
            <a:endParaRPr lang="en-US" sz="3200" noProof="1"/>
          </a:p>
        </p:txBody>
      </p:sp>
      <p:sp>
        <p:nvSpPr>
          <p:cNvPr id="4" name="title-rule"/>
          <p:cNvSpPr/>
          <p:nvPr/>
        </p:nvSpPr>
        <p:spPr>
          <a:xfrm>
            <a:off x="812800" y="1498600"/>
            <a:ext cx="10566400" cy="12700"/>
          </a:xfrm>
          <a:prstGeom prst="rect">
            <a:avLst/>
          </a:prstGeom>
          <a:solidFill>
            <a:srgbClr val="DDD6CC"/>
          </a:solidFill>
          <a:ln>
            <a:noFill/>
          </a:ln>
        </p:spPr>
      </p:sp>
      <p:sp>
        <p:nvSpPr>
          <p:cNvPr id="5" name="question-band"/>
          <p:cNvSpPr/>
          <p:nvPr/>
        </p:nvSpPr>
        <p:spPr>
          <a:xfrm>
            <a:off x="812800" y="1701800"/>
            <a:ext cx="10566400" cy="50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6CC"/>
            </a:solidFill>
          </a:ln>
        </p:spPr>
      </p:sp>
      <p:sp>
        <p:nvSpPr>
          <p:cNvPr id="6" name="question-text"/>
          <p:cNvSpPr txBox="1"/>
          <p:nvPr/>
        </p:nvSpPr>
        <p:spPr>
          <a:xfrm>
            <a:off x="1066800" y="1701800"/>
            <a:ext cx="10058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350" noProof="1">
                <a:solidFill>
                  <a:srgbClr val="211D19"/>
                </a:solidFill>
                <a:latin typeface="MiSans"/>
                <a:ea typeface="MiSans"/>
              </a:rPr>
              <a:t>The question: </a:t>
            </a:r>
            <a:r>
              <a:rPr lang="en-US" sz="1350" noProof="1" b="1">
                <a:solidFill>
                  <a:srgbClr val="211D19"/>
                </a:solidFill>
                <a:latin typeface="MiSans"/>
                <a:ea typeface="MiSans"/>
              </a:rPr>
              <a:t>"What is unbilled exposure by payer this week?"</a:t>
            </a:r>
            <a:endParaRPr lang="en-US" sz="1350" noProof="1"/>
          </a:p>
        </p:txBody>
      </p:sp>
      <p:sp>
        <p:nvSpPr>
          <p:cNvPr id="7" name="st1-box"/>
          <p:cNvSpPr/>
          <p:nvPr/>
        </p:nvSpPr>
        <p:spPr>
          <a:xfrm>
            <a:off x="812800" y="2489200"/>
            <a:ext cx="2489200" cy="1397000"/>
          </a:xfrm>
          <a:prstGeom prst="rect">
            <a:avLst/>
          </a:prstGeom>
          <a:solidFill>
            <a:srgbClr val="2E5D46">
              <a:alpha val="7059"/>
            </a:srgbClr>
          </a:solidFill>
          <a:ln w="19050">
            <a:solidFill>
              <a:srgbClr val="2E5D46"/>
            </a:solidFill>
          </a:ln>
        </p:spPr>
      </p:sp>
      <p:sp>
        <p:nvSpPr>
          <p:cNvPr id="8" name="st1-title"/>
          <p:cNvSpPr txBox="1"/>
          <p:nvPr/>
        </p:nvSpPr>
        <p:spPr>
          <a:xfrm>
            <a:off x="990600" y="264160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120" kern="0">
                <a:solidFill>
                  <a:srgbClr val="2E5D46"/>
                </a:solidFill>
                <a:latin typeface="MiSans"/>
                <a:ea typeface="MiSans"/>
              </a:rPr>
              <a:t>1 · ONTOLOGY</a:t>
            </a:r>
            <a:endParaRPr lang="en-US" sz="1000" noProof="1"/>
          </a:p>
        </p:txBody>
      </p:sp>
      <p:sp>
        <p:nvSpPr>
          <p:cNvPr id="9" name="st1-sub"/>
          <p:cNvSpPr txBox="1"/>
          <p:nvPr/>
        </p:nvSpPr>
        <p:spPr>
          <a:xfrm>
            <a:off x="990600" y="284480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what the words mean</a:t>
            </a:r>
            <a:endParaRPr lang="en-US" sz="1000" noProof="1"/>
          </a:p>
        </p:txBody>
      </p:sp>
      <p:sp>
        <p:nvSpPr>
          <p:cNvPr id="10" name="st1-text"/>
          <p:cNvSpPr txBox="1"/>
          <p:nvPr/>
        </p:nvSpPr>
        <p:spPr>
          <a:xfrm>
            <a:off x="990600" y="3073400"/>
            <a:ext cx="2133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050" noProof="1">
                <a:solidFill>
                  <a:srgbClr val="211D19"/>
                </a:solidFill>
                <a:latin typeface="MiSans"/>
                <a:ea typeface="MiSans"/>
              </a:rPr>
              <a:t>"Payer" and "unbilled" each mean one thing, governed in o2c-meaning.ttl</a:t>
            </a:r>
            <a:endParaRPr lang="en-US" sz="1050" noProof="1"/>
          </a:p>
        </p:txBody>
      </p:sp>
      <p:sp>
        <p:nvSpPr>
          <p:cNvPr id="11" name="arr-1"/>
          <p:cNvSpPr/>
          <p:nvPr>
            <p:extLst>
              <p:ext uri="{F5677B7D-0D2A-4D9B-9A5C-6D8D7D0E5A5D}">
                <pptd:line encoding="base64url">eyJ2aWV3Qm94IjpbMTIsMl0sInBvaW50cyI6IjAsMSAxMiwxIiwiY3VydmUiOiJzaGFycCJ9</pptd:line>
              </p:ext>
            </p:extLst>
          </p:nvPr>
        </p:nvSpPr>
        <p:spPr>
          <a:xfrm>
            <a:off x="3327400" y="3175000"/>
            <a:ext cx="152400" cy="25400"/>
          </a:xfrm>
          <a:custGeom>
            <a:avLst/>
            <a:gdLst/>
            <a:ahLst/>
            <a:cxnLst/>
            <a:rect l="l" t="t" r="r" b="b"/>
            <a:pathLst>
              <a:path w="12" h="2">
                <a:moveTo>
                  <a:pt x="0" y="1"/>
                </a:moveTo>
                <a:lnTo>
                  <a:pt x="12" y="1"/>
                </a:lnTo>
              </a:path>
            </a:pathLst>
          </a:custGeom>
          <a:noFill/>
          <a:ln w="19050">
            <a:solidFill>
              <a:srgbClr val="9A938A"/>
            </a:solidFill>
            <a:tailEnd type="arrow"/>
          </a:ln>
        </p:spPr>
      </p:sp>
      <p:sp>
        <p:nvSpPr>
          <p:cNvPr id="12" name="st2-box"/>
          <p:cNvSpPr/>
          <p:nvPr/>
        </p:nvSpPr>
        <p:spPr>
          <a:xfrm>
            <a:off x="3505200" y="2489200"/>
            <a:ext cx="2489200" cy="1397000"/>
          </a:xfrm>
          <a:prstGeom prst="rect">
            <a:avLst/>
          </a:prstGeom>
          <a:solidFill>
            <a:srgbClr val="B3501E">
              <a:alpha val="7059"/>
            </a:srgbClr>
          </a:solidFill>
          <a:ln w="19050">
            <a:solidFill>
              <a:srgbClr val="B3501E"/>
            </a:solidFill>
          </a:ln>
        </p:spPr>
      </p:sp>
      <p:sp>
        <p:nvSpPr>
          <p:cNvPr id="13" name="st2-title"/>
          <p:cNvSpPr txBox="1"/>
          <p:nvPr/>
        </p:nvSpPr>
        <p:spPr>
          <a:xfrm>
            <a:off x="3683000" y="264160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120" kern="0">
                <a:solidFill>
                  <a:srgbClr val="B3501E"/>
                </a:solidFill>
                <a:latin typeface="MiSans"/>
                <a:ea typeface="MiSans"/>
              </a:rPr>
              <a:t>2 · SEMANTIC LAYER</a:t>
            </a:r>
            <a:endParaRPr lang="en-US" sz="1000" noProof="1"/>
          </a:p>
        </p:txBody>
      </p:sp>
      <p:sp>
        <p:nvSpPr>
          <p:cNvPr id="14" name="st2-sub"/>
          <p:cNvSpPr txBox="1"/>
          <p:nvPr/>
        </p:nvSpPr>
        <p:spPr>
          <a:xfrm>
            <a:off x="3683000" y="284480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how to compute it</a:t>
            </a:r>
            <a:endParaRPr lang="en-US" sz="1000" noProof="1"/>
          </a:p>
        </p:txBody>
      </p:sp>
      <p:sp>
        <p:nvSpPr>
          <p:cNvPr id="15" name="st2-text"/>
          <p:cNvSpPr txBox="1"/>
          <p:nvPr/>
        </p:nvSpPr>
        <p:spPr>
          <a:xfrm>
            <a:off x="3683000" y="3073400"/>
            <a:ext cx="2133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050" noProof="1">
                <a:solidFill>
                  <a:srgbClr val="211D19"/>
                </a:solidFill>
                <a:latin typeface="MiSans"/>
                <a:ea typeface="MiSans"/>
              </a:rPr>
              <a:t>Unbilled USD = Σ net gallons × contract price, over delivered tickets with no posted invoice</a:t>
            </a:r>
            <a:endParaRPr lang="en-US" sz="1050" noProof="1"/>
          </a:p>
        </p:txBody>
      </p:sp>
      <p:sp>
        <p:nvSpPr>
          <p:cNvPr id="16" name="arr-2"/>
          <p:cNvSpPr/>
          <p:nvPr>
            <p:extLst>
              <p:ext uri="{F5677B7D-0D2A-4D9B-9A5C-6D8D7D0E5A5D}">
                <pptd:line encoding="base64url">eyJ2aWV3Qm94IjpbMTIsMl0sInBvaW50cyI6IjAsMSAxMiwxIiwiY3VydmUiOiJzaGFycCJ9</pptd:line>
              </p:ext>
            </p:extLst>
          </p:nvPr>
        </p:nvSpPr>
        <p:spPr>
          <a:xfrm>
            <a:off x="6019800" y="3175000"/>
            <a:ext cx="152400" cy="25400"/>
          </a:xfrm>
          <a:custGeom>
            <a:avLst/>
            <a:gdLst/>
            <a:ahLst/>
            <a:cxnLst/>
            <a:rect l="l" t="t" r="r" b="b"/>
            <a:pathLst>
              <a:path w="12" h="2">
                <a:moveTo>
                  <a:pt x="0" y="1"/>
                </a:moveTo>
                <a:lnTo>
                  <a:pt x="12" y="1"/>
                </a:lnTo>
              </a:path>
            </a:pathLst>
          </a:custGeom>
          <a:noFill/>
          <a:ln w="19050">
            <a:solidFill>
              <a:srgbClr val="9A938A"/>
            </a:solidFill>
            <a:tailEnd type="arrow"/>
          </a:ln>
        </p:spPr>
      </p:sp>
      <p:sp>
        <p:nvSpPr>
          <p:cNvPr id="17" name="st3-box"/>
          <p:cNvSpPr/>
          <p:nvPr/>
        </p:nvSpPr>
        <p:spPr>
          <a:xfrm>
            <a:off x="6197600" y="2489200"/>
            <a:ext cx="2489200" cy="1397000"/>
          </a:xfrm>
          <a:prstGeom prst="rect">
            <a:avLst/>
          </a:prstGeom>
          <a:solidFill>
            <a:srgbClr val="FFFFFF"/>
          </a:solidFill>
          <a:ln w="19050">
            <a:solidFill>
              <a:srgbClr val="6E675E"/>
            </a:solidFill>
          </a:ln>
        </p:spPr>
      </p:sp>
      <p:sp>
        <p:nvSpPr>
          <p:cNvPr id="18" name="st3-title"/>
          <p:cNvSpPr txBox="1"/>
          <p:nvPr/>
        </p:nvSpPr>
        <p:spPr>
          <a:xfrm>
            <a:off x="6375400" y="264160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120" kern="0">
                <a:solidFill>
                  <a:srgbClr val="6E675E"/>
                </a:solidFill>
                <a:latin typeface="MiSans"/>
                <a:ea typeface="MiSans"/>
              </a:rPr>
              <a:t>3 · COMPILER</a:t>
            </a:r>
            <a:endParaRPr lang="en-US" sz="1000" noProof="1"/>
          </a:p>
        </p:txBody>
      </p:sp>
      <p:sp>
        <p:nvSpPr>
          <p:cNvPr id="19" name="st3-sub"/>
          <p:cNvSpPr txBox="1"/>
          <p:nvPr/>
        </p:nvSpPr>
        <p:spPr>
          <a:xfrm>
            <a:off x="6375400" y="284480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one path to SQL</a:t>
            </a:r>
            <a:endParaRPr lang="en-US" sz="1000" noProof="1"/>
          </a:p>
        </p:txBody>
      </p:sp>
      <p:sp>
        <p:nvSpPr>
          <p:cNvPr id="20" name="st3-text"/>
          <p:cNvSpPr txBox="1"/>
          <p:nvPr/>
        </p:nvSpPr>
        <p:spPr>
          <a:xfrm>
            <a:off x="6375400" y="3073400"/>
            <a:ext cx="2133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050" noProof="1">
                <a:solidFill>
                  <a:srgbClr val="211D19"/>
                </a:solidFill>
                <a:latin typeface="MiSans"/>
                <a:ea typeface="MiSans"/>
              </a:rPr>
              <a:t>Every consumer's question compiles to the same SQL — no hand-written forks</a:t>
            </a:r>
            <a:endParaRPr lang="en-US" sz="1050" noProof="1"/>
          </a:p>
        </p:txBody>
      </p:sp>
      <p:sp>
        <p:nvSpPr>
          <p:cNvPr id="21" name="arr-3"/>
          <p:cNvSpPr/>
          <p:nvPr>
            <p:extLst>
              <p:ext uri="{F5677B7D-0D2A-4D9B-9A5C-6D8D7D0E5A5D}">
                <pptd:line encoding="base64url">eyJ2aWV3Qm94IjpbMTIsMl0sInBvaW50cyI6IjAsMSAxMiwxIiwiY3VydmUiOiJzaGFycCJ9</pptd:line>
              </p:ext>
            </p:extLst>
          </p:nvPr>
        </p:nvSpPr>
        <p:spPr>
          <a:xfrm>
            <a:off x="8712200" y="3175000"/>
            <a:ext cx="152400" cy="25400"/>
          </a:xfrm>
          <a:custGeom>
            <a:avLst/>
            <a:gdLst/>
            <a:ahLst/>
            <a:cxnLst/>
            <a:rect l="l" t="t" r="r" b="b"/>
            <a:pathLst>
              <a:path w="12" h="2">
                <a:moveTo>
                  <a:pt x="0" y="1"/>
                </a:moveTo>
                <a:lnTo>
                  <a:pt x="12" y="1"/>
                </a:lnTo>
              </a:path>
            </a:pathLst>
          </a:custGeom>
          <a:noFill/>
          <a:ln w="19050">
            <a:solidFill>
              <a:srgbClr val="9A938A"/>
            </a:solidFill>
            <a:tailEnd type="arrow"/>
          </a:ln>
        </p:spPr>
      </p:sp>
      <p:sp>
        <p:nvSpPr>
          <p:cNvPr id="22" name="st4-box"/>
          <p:cNvSpPr/>
          <p:nvPr/>
        </p:nvSpPr>
        <p:spPr>
          <a:xfrm>
            <a:off x="8890000" y="2489200"/>
            <a:ext cx="2489200" cy="1397000"/>
          </a:xfrm>
          <a:prstGeom prst="rect">
            <a:avLst/>
          </a:prstGeom>
          <a:solidFill>
            <a:srgbClr val="211D19"/>
          </a:solidFill>
          <a:ln>
            <a:noFill/>
          </a:ln>
        </p:spPr>
      </p:sp>
      <p:sp>
        <p:nvSpPr>
          <p:cNvPr id="23" name="st4-title"/>
          <p:cNvSpPr txBox="1"/>
          <p:nvPr/>
        </p:nvSpPr>
        <p:spPr>
          <a:xfrm>
            <a:off x="9067800" y="264160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 b="1" spc="120" kern="0">
                <a:solidFill>
                  <a:srgbClr val="FFFFFF"/>
                </a:solidFill>
                <a:latin typeface="MiSans"/>
                <a:ea typeface="MiSans"/>
              </a:rPr>
              <a:t>4 · KPI STORE</a:t>
            </a:r>
            <a:endParaRPr lang="en-US" sz="1000" noProof="1"/>
          </a:p>
        </p:txBody>
      </p:sp>
      <p:sp>
        <p:nvSpPr>
          <p:cNvPr id="24" name="st4-sub"/>
          <p:cNvSpPr txBox="1"/>
          <p:nvPr/>
        </p:nvSpPr>
        <p:spPr>
          <a:xfrm>
            <a:off x="9067800" y="2844800"/>
            <a:ext cx="2133600" cy="152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C9C2B8"/>
                </a:solidFill>
                <a:latin typeface="MiSans"/>
                <a:ea typeface="MiSans"/>
              </a:rPr>
              <a:t>the certified number</a:t>
            </a:r>
            <a:endParaRPr lang="en-US" sz="1000" noProof="1"/>
          </a:p>
        </p:txBody>
      </p:sp>
      <p:sp>
        <p:nvSpPr>
          <p:cNvPr id="25" name="st4-text"/>
          <p:cNvSpPr txBox="1"/>
          <p:nvPr/>
        </p:nvSpPr>
        <p:spPr>
          <a:xfrm>
            <a:off x="9067800" y="3073400"/>
            <a:ext cx="21336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1050" noProof="1">
                <a:solidFill>
                  <a:srgbClr val="FFFFFF"/>
                </a:solidFill>
                <a:latin typeface="MiSans"/>
                <a:ea typeface="MiSans"/>
              </a:rPr>
              <a:t>The certified, versioned value every dashboard, sheet, and agent reads</a:t>
            </a:r>
            <a:endParaRPr lang="en-US" sz="1050" noProof="1"/>
          </a:p>
        </p:txBody>
      </p:sp>
      <p:sp>
        <p:nvSpPr>
          <p:cNvPr id="26" name="data-caption"/>
          <p:cNvSpPr txBox="1"/>
          <p:nvPr/>
        </p:nvSpPr>
        <p:spPr>
          <a:xfrm>
            <a:off x="812800" y="4064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00" noProof="1">
                <a:solidFill>
                  <a:srgbClr val="6E675E"/>
                </a:solidFill>
                <a:latin typeface="MiSans"/>
                <a:ea typeface="MiSans"/>
              </a:rPr>
              <a:t>Underneath it all: the warehouse tables — the data stays where it lives and is queried in place</a:t>
            </a:r>
            <a:endParaRPr lang="en-US" sz="1000" noProof="1"/>
          </a:p>
        </p:txBody>
      </p:sp>
      <p:sp>
        <p:nvSpPr>
          <p:cNvPr id="27" name="gov-caption"/>
          <p:cNvSpPr txBox="1"/>
          <p:nvPr/>
        </p:nvSpPr>
        <p:spPr>
          <a:xfrm>
            <a:off x="812800" y="4318000"/>
            <a:ext cx="10566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050" noProof="1" i="1">
                <a:solidFill>
                  <a:srgbClr val="6E675E"/>
                </a:solidFill>
                <a:latin typeface="MiSans"/>
                <a:ea typeface="MiSans"/>
              </a:rPr>
              <a:t>Governance runs across all four stages — everything defined in code, reviewed, and versioned</a:t>
            </a:r>
            <a:endParaRPr lang="en-US" sz="1050" noProof="1"/>
          </a:p>
        </p:txBody>
      </p:sp>
      <p:sp>
        <p:nvSpPr>
          <p:cNvPr id="28" name="why-head"/>
          <p:cNvSpPr txBox="1"/>
          <p:nvPr/>
        </p:nvSpPr>
        <p:spPr>
          <a:xfrm>
            <a:off x="812800" y="48514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11D19"/>
                </a:solidFill>
                <a:latin typeface="MiSans"/>
                <a:ea typeface="MiSans"/>
              </a:rPr>
              <a:t>Why the question needs both</a:t>
            </a:r>
            <a:endParaRPr lang="en-US" sz="1100" noProof="1"/>
          </a:p>
        </p:txBody>
      </p:sp>
      <p:sp>
        <p:nvSpPr>
          <p:cNvPr id="29" name="why-body"/>
          <p:cNvSpPr txBox="1"/>
          <p:nvPr/>
        </p:nvSpPr>
        <p:spPr>
          <a:xfrm>
            <a:off x="812800" y="5105400"/>
            <a:ext cx="5080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100" noProof="1">
                <a:solidFill>
                  <a:srgbClr val="211D19"/>
                </a:solidFill>
                <a:latin typeface="MiSans"/>
                <a:ea typeface="MiSans"/>
              </a:rPr>
              <a:t>"Payer" is meaning — the ontology's word. "Unbilled USD" is logic — the semantic layer's formula. Structure without logic is a taxonomy exercise; logic without structure is metric sprawl.</a:t>
            </a:r>
            <a:endParaRPr lang="en-US" sz="1100" noProof="1"/>
          </a:p>
        </p:txBody>
      </p:sp>
      <p:sp>
        <p:nvSpPr>
          <p:cNvPr id="30" name="kpi-head"/>
          <p:cNvSpPr txBox="1"/>
          <p:nvPr/>
        </p:nvSpPr>
        <p:spPr>
          <a:xfrm>
            <a:off x="6299200" y="4851400"/>
            <a:ext cx="5080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211D19"/>
                </a:solidFill>
                <a:latin typeface="MiSans"/>
                <a:ea typeface="MiSans"/>
              </a:rPr>
              <a:t>What the KPI store adds</a:t>
            </a:r>
            <a:endParaRPr lang="en-US" sz="1100" noProof="1"/>
          </a:p>
        </p:txBody>
      </p:sp>
      <p:sp>
        <p:nvSpPr>
          <p:cNvPr id="31" name="kpi-body"/>
          <p:cNvSpPr txBox="1"/>
          <p:nvPr/>
        </p:nvSpPr>
        <p:spPr>
          <a:xfrm>
            <a:off x="6299200" y="5105400"/>
            <a:ext cx="5080000" cy="1117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45000"/>
              </a:lnSpc>
            </a:pPr>
            <a:r>
              <a:rPr lang="en-US" sz="1100" noProof="1">
                <a:solidFill>
                  <a:srgbClr val="211D19"/>
                </a:solidFill>
                <a:latin typeface="MiSans"/>
                <a:ea typeface="MiSans"/>
              </a:rPr>
              <a:t>A governed home for the result: certification status, owner, version, freshness. Consumers read the certified value instead of running their own query — so a Report C can no longer drift from Reports A and B.</a:t>
            </a:r>
            <a:endParaRPr lang="en-US" sz="1100" noProof="1"/>
          </a:p>
        </p:txBody>
      </p:sp>
      <p:sp>
        <p:nvSpPr>
          <p:cNvPr id="32" name="footer-left"/>
          <p:cNvSpPr txBox="1"/>
          <p:nvPr/>
        </p:nvSpPr>
        <p:spPr>
          <a:xfrm>
            <a:off x="812800" y="6527800"/>
            <a:ext cx="78740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000" noProof="1">
                <a:solidFill>
                  <a:srgbClr val="9A938A"/>
                </a:solidFill>
                <a:latin typeface="MiSans"/>
                <a:ea typeface="MiSans"/>
              </a:rPr>
              <a:t>Flow mirrors the EPM demo's KPI pattern: candidate register → catalog → semantic layer → compiler → certified snapshots</a:t>
            </a:r>
            <a:endParaRPr lang="en-US" sz="1000" noProof="1"/>
          </a:p>
        </p:txBody>
      </p:sp>
      <p:sp>
        <p:nvSpPr>
          <p:cNvPr id="33" name="footer-right"/>
          <p:cNvSpPr txBox="1"/>
          <p:nvPr/>
        </p:nvSpPr>
        <p:spPr>
          <a:xfrm>
            <a:off x="10541000" y="6527800"/>
            <a:ext cx="838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9A938A"/>
                </a:solidFill>
                <a:latin typeface="MiSans"/>
                <a:ea typeface="MiSans"/>
              </a:rPr>
              <a:t>04 / 04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4</Slides>
</Properties>
</file>

<file path=docProps/core.xml><?xml version="1.0" encoding="utf-8"?>
<cp:coreProperties xmlns:dc="http://purl.org/dc/elements/1.1/" xmlns:cp="http://schemas.openxmlformats.org/package/2006/metadata/core-properties">
  <dc:title>Semantic Layer and Ontology — Three Concept Slides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